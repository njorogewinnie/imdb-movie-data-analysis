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Montserrat"/>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h4Ev6eB0ANFim685Dk41AnaSVT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c64058ab61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c64058ab61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c64058ab6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c64058ab6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c64058ab61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c64058ab61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29fdd57bb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3729fdd57bb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c64058ab61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c64058ab61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c64058ab61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c64058ab61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729fdd57bb_1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729fdd57bb_1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729fdd57bb_1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729fdd57bb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c64058ab61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c64058ab61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74c74cb0d0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74c74cb0d0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c64058ab61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c64058ab61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c768f65d73_0_55"/>
          <p:cNvSpPr/>
          <p:nvPr/>
        </p:nvSpPr>
        <p:spPr>
          <a:xfrm rot="5400000">
            <a:off x="10000500" y="673"/>
            <a:ext cx="2191500" cy="2191500"/>
          </a:xfrm>
          <a:prstGeom prst="diagStripe">
            <a:avLst>
              <a:gd fmla="val 0" name="adj"/>
            </a:avLst>
          </a:prstGeom>
          <a:solidFill>
            <a:schemeClr val="lt1">
              <a:alpha val="2745"/>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gc768f65d73_0_55"/>
          <p:cNvGrpSpPr/>
          <p:nvPr/>
        </p:nvGrpSpPr>
        <p:grpSpPr>
          <a:xfrm>
            <a:off x="0" y="654"/>
            <a:ext cx="6871435" cy="6845694"/>
            <a:chOff x="0" y="75"/>
            <a:chExt cx="5153705" cy="5152950"/>
          </a:xfrm>
        </p:grpSpPr>
        <p:sp>
          <p:nvSpPr>
            <p:cNvPr id="12" name="Google Shape;12;gc768f65d73_0_55"/>
            <p:cNvSpPr/>
            <p:nvPr/>
          </p:nvSpPr>
          <p:spPr>
            <a:xfrm rot="-5400000">
              <a:off x="455" y="-225"/>
              <a:ext cx="5152800" cy="5153700"/>
            </a:xfrm>
            <a:prstGeom prst="diagStripe">
              <a:avLst>
                <a:gd fmla="val 50000" name="adj"/>
              </a:avLst>
            </a:prstGeom>
            <a:solidFill>
              <a:schemeClr val="lt1">
                <a:alpha val="2745"/>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c768f65d73_0_55"/>
            <p:cNvSpPr/>
            <p:nvPr/>
          </p:nvSpPr>
          <p:spPr>
            <a:xfrm rot="-5400000">
              <a:off x="150" y="1145825"/>
              <a:ext cx="3996600" cy="3996900"/>
            </a:xfrm>
            <a:prstGeom prst="diagStripe">
              <a:avLst>
                <a:gd fmla="val 58774" name="adj"/>
              </a:avLst>
            </a:prstGeom>
            <a:solidFill>
              <a:schemeClr val="lt1">
                <a:alpha val="2745"/>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gc768f65d73_0_55"/>
            <p:cNvSpPr/>
            <p:nvPr/>
          </p:nvSpPr>
          <p:spPr>
            <a:xfrm rot="-5400000">
              <a:off x="1646" y="-75"/>
              <a:ext cx="2299800" cy="23001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gc768f65d73_0_55"/>
            <p:cNvSpPr/>
            <p:nvPr/>
          </p:nvSpPr>
          <p:spPr>
            <a:xfrm flipH="1">
              <a:off x="652821" y="590035"/>
              <a:ext cx="2300100" cy="2299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gc768f65d73_0_55"/>
          <p:cNvSpPr txBox="1"/>
          <p:nvPr>
            <p:ph type="ctrTitle"/>
          </p:nvPr>
        </p:nvSpPr>
        <p:spPr>
          <a:xfrm>
            <a:off x="4716200" y="2104533"/>
            <a:ext cx="6690000" cy="21051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5300"/>
              <a:buNone/>
              <a:defRPr sz="5300"/>
            </a:lvl1pPr>
            <a:lvl2pPr lvl="1" algn="l">
              <a:lnSpc>
                <a:spcPct val="100000"/>
              </a:lnSpc>
              <a:spcBef>
                <a:spcPts val="0"/>
              </a:spcBef>
              <a:spcAft>
                <a:spcPts val="0"/>
              </a:spcAft>
              <a:buSzPts val="5300"/>
              <a:buNone/>
              <a:defRPr sz="5300"/>
            </a:lvl2pPr>
            <a:lvl3pPr lvl="2" algn="l">
              <a:lnSpc>
                <a:spcPct val="100000"/>
              </a:lnSpc>
              <a:spcBef>
                <a:spcPts val="0"/>
              </a:spcBef>
              <a:spcAft>
                <a:spcPts val="0"/>
              </a:spcAft>
              <a:buSzPts val="5300"/>
              <a:buNone/>
              <a:defRPr sz="5300"/>
            </a:lvl3pPr>
            <a:lvl4pPr lvl="3" algn="l">
              <a:lnSpc>
                <a:spcPct val="100000"/>
              </a:lnSpc>
              <a:spcBef>
                <a:spcPts val="0"/>
              </a:spcBef>
              <a:spcAft>
                <a:spcPts val="0"/>
              </a:spcAft>
              <a:buSzPts val="5300"/>
              <a:buNone/>
              <a:defRPr sz="5300"/>
            </a:lvl4pPr>
            <a:lvl5pPr lvl="4" algn="l">
              <a:lnSpc>
                <a:spcPct val="100000"/>
              </a:lnSpc>
              <a:spcBef>
                <a:spcPts val="0"/>
              </a:spcBef>
              <a:spcAft>
                <a:spcPts val="0"/>
              </a:spcAft>
              <a:buSzPts val="5300"/>
              <a:buNone/>
              <a:defRPr sz="5300"/>
            </a:lvl5pPr>
            <a:lvl6pPr lvl="5" algn="l">
              <a:lnSpc>
                <a:spcPct val="100000"/>
              </a:lnSpc>
              <a:spcBef>
                <a:spcPts val="0"/>
              </a:spcBef>
              <a:spcAft>
                <a:spcPts val="0"/>
              </a:spcAft>
              <a:buSzPts val="5300"/>
              <a:buNone/>
              <a:defRPr sz="5300"/>
            </a:lvl6pPr>
            <a:lvl7pPr lvl="6" algn="l">
              <a:lnSpc>
                <a:spcPct val="100000"/>
              </a:lnSpc>
              <a:spcBef>
                <a:spcPts val="0"/>
              </a:spcBef>
              <a:spcAft>
                <a:spcPts val="0"/>
              </a:spcAft>
              <a:buSzPts val="5300"/>
              <a:buNone/>
              <a:defRPr sz="5300"/>
            </a:lvl7pPr>
            <a:lvl8pPr lvl="7" algn="l">
              <a:lnSpc>
                <a:spcPct val="100000"/>
              </a:lnSpc>
              <a:spcBef>
                <a:spcPts val="0"/>
              </a:spcBef>
              <a:spcAft>
                <a:spcPts val="0"/>
              </a:spcAft>
              <a:buSzPts val="5300"/>
              <a:buNone/>
              <a:defRPr sz="5300"/>
            </a:lvl8pPr>
            <a:lvl9pPr lvl="8" algn="l">
              <a:lnSpc>
                <a:spcPct val="100000"/>
              </a:lnSpc>
              <a:spcBef>
                <a:spcPts val="0"/>
              </a:spcBef>
              <a:spcAft>
                <a:spcPts val="0"/>
              </a:spcAft>
              <a:buSzPts val="5300"/>
              <a:buNone/>
              <a:defRPr sz="5300"/>
            </a:lvl9pPr>
          </a:lstStyle>
          <a:p/>
        </p:txBody>
      </p:sp>
      <p:sp>
        <p:nvSpPr>
          <p:cNvPr id="17" name="Google Shape;17;gc768f65d73_0_55"/>
          <p:cNvSpPr txBox="1"/>
          <p:nvPr>
            <p:ph idx="1" type="subTitle"/>
          </p:nvPr>
        </p:nvSpPr>
        <p:spPr>
          <a:xfrm>
            <a:off x="6778600" y="5233233"/>
            <a:ext cx="4627500" cy="674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1700"/>
              <a:buNone/>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18" name="Google Shape;18;gc768f65d73_0_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grpSp>
        <p:nvGrpSpPr>
          <p:cNvPr id="20" name="Google Shape;20;gc768f65d73_0_94"/>
          <p:cNvGrpSpPr/>
          <p:nvPr/>
        </p:nvGrpSpPr>
        <p:grpSpPr>
          <a:xfrm>
            <a:off x="0" y="507989"/>
            <a:ext cx="1383765" cy="1355017"/>
            <a:chOff x="0" y="381001"/>
            <a:chExt cx="1037850" cy="1016288"/>
          </a:xfrm>
        </p:grpSpPr>
        <p:sp>
          <p:nvSpPr>
            <p:cNvPr id="21" name="Google Shape;21;gc768f65d73_0_94"/>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c768f65d73_0_94"/>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gc768f65d73_0_94"/>
          <p:cNvSpPr txBox="1"/>
          <p:nvPr>
            <p:ph type="title"/>
          </p:nvPr>
        </p:nvSpPr>
        <p:spPr>
          <a:xfrm>
            <a:off x="1730000" y="525000"/>
            <a:ext cx="9385200" cy="12189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24" name="Google Shape;24;gc768f65d73_0_94"/>
          <p:cNvSpPr txBox="1"/>
          <p:nvPr>
            <p:ph idx="1" type="body"/>
          </p:nvPr>
        </p:nvSpPr>
        <p:spPr>
          <a:xfrm>
            <a:off x="1730000" y="2090067"/>
            <a:ext cx="4537500" cy="3881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25" name="Google Shape;25;gc768f65d73_0_94"/>
          <p:cNvSpPr txBox="1"/>
          <p:nvPr>
            <p:ph idx="2" type="body"/>
          </p:nvPr>
        </p:nvSpPr>
        <p:spPr>
          <a:xfrm>
            <a:off x="6577628" y="2090067"/>
            <a:ext cx="4537500" cy="3881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26" name="Google Shape;26;gc768f65d73_0_9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gc768f65d73_0_17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9" name="Google Shape;29;gc768f65d73_0_17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1600"/>
              </a:spcAft>
              <a:buClr>
                <a:schemeClr val="dk1"/>
              </a:buClr>
              <a:buSzPts val="1800"/>
              <a:buChar char="■"/>
              <a:defRPr/>
            </a:lvl9pPr>
          </a:lstStyle>
          <a:p/>
        </p:txBody>
      </p:sp>
      <p:sp>
        <p:nvSpPr>
          <p:cNvPr id="30" name="Google Shape;30;gc768f65d73_0_17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 name="Google Shape;31;gc768f65d73_0_17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2" name="Google Shape;32;gc768f65d73_0_17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grpSp>
        <p:nvGrpSpPr>
          <p:cNvPr id="34" name="Google Shape;34;gc768f65d73_0_87"/>
          <p:cNvGrpSpPr/>
          <p:nvPr/>
        </p:nvGrpSpPr>
        <p:grpSpPr>
          <a:xfrm>
            <a:off x="0" y="507989"/>
            <a:ext cx="1383765" cy="1355017"/>
            <a:chOff x="0" y="381001"/>
            <a:chExt cx="1037850" cy="1016288"/>
          </a:xfrm>
        </p:grpSpPr>
        <p:sp>
          <p:nvSpPr>
            <p:cNvPr id="35" name="Google Shape;35;gc768f65d73_0_87"/>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gc768f65d73_0_87"/>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gc768f65d73_0_87"/>
          <p:cNvSpPr txBox="1"/>
          <p:nvPr>
            <p:ph type="title"/>
          </p:nvPr>
        </p:nvSpPr>
        <p:spPr>
          <a:xfrm>
            <a:off x="1730000" y="525000"/>
            <a:ext cx="9385200" cy="12189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8" name="Google Shape;38;gc768f65d73_0_87"/>
          <p:cNvSpPr txBox="1"/>
          <p:nvPr>
            <p:ph idx="1" type="body"/>
          </p:nvPr>
        </p:nvSpPr>
        <p:spPr>
          <a:xfrm>
            <a:off x="1730000" y="2090067"/>
            <a:ext cx="9385200" cy="38817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39" name="Google Shape;39;gc768f65d73_0_8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grpSp>
        <p:nvGrpSpPr>
          <p:cNvPr id="41" name="Google Shape;41;gc768f65d73_0_65"/>
          <p:cNvGrpSpPr/>
          <p:nvPr/>
        </p:nvGrpSpPr>
        <p:grpSpPr>
          <a:xfrm>
            <a:off x="5875053" y="0"/>
            <a:ext cx="6316642" cy="6857248"/>
            <a:chOff x="4406400" y="0"/>
            <a:chExt cx="4737600" cy="5143065"/>
          </a:xfrm>
        </p:grpSpPr>
        <p:sp>
          <p:nvSpPr>
            <p:cNvPr id="42" name="Google Shape;42;gc768f65d73_0_65"/>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gc768f65d73_0_65"/>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gc768f65d73_0_65"/>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gc768f65d73_0_65"/>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gc768f65d73_0_65"/>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c768f65d73_0_65"/>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gc768f65d73_0_65"/>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gc768f65d73_0_65"/>
            <p:cNvSpPr/>
            <p:nvPr/>
          </p:nvSpPr>
          <p:spPr>
            <a:xfrm flipH="1">
              <a:off x="6908099" y="2069505"/>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gc768f65d73_0_65"/>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c768f65d73_0_65"/>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gc768f65d73_0_65"/>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gc768f65d73_0_65"/>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gc768f65d73_0_65"/>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c768f65d73_0_65"/>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gc768f65d73_0_65"/>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c768f65d73_0_65"/>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gc768f65d73_0_65"/>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c768f65d73_0_65"/>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 name="Google Shape;60;gc768f65d73_0_65"/>
          <p:cNvSpPr txBox="1"/>
          <p:nvPr>
            <p:ph type="title"/>
          </p:nvPr>
        </p:nvSpPr>
        <p:spPr>
          <a:xfrm>
            <a:off x="1098467" y="2737333"/>
            <a:ext cx="6116100" cy="15315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61" name="Google Shape;61;gc768f65d73_0_6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gc768f65d73_0_102"/>
          <p:cNvGrpSpPr/>
          <p:nvPr/>
        </p:nvGrpSpPr>
        <p:grpSpPr>
          <a:xfrm>
            <a:off x="0" y="507989"/>
            <a:ext cx="1383765" cy="1355017"/>
            <a:chOff x="0" y="381001"/>
            <a:chExt cx="1037850" cy="1016288"/>
          </a:xfrm>
        </p:grpSpPr>
        <p:sp>
          <p:nvSpPr>
            <p:cNvPr id="64" name="Google Shape;64;gc768f65d73_0_102"/>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gc768f65d73_0_102"/>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gc768f65d73_0_102"/>
          <p:cNvSpPr txBox="1"/>
          <p:nvPr>
            <p:ph type="title"/>
          </p:nvPr>
        </p:nvSpPr>
        <p:spPr>
          <a:xfrm>
            <a:off x="1730000" y="525000"/>
            <a:ext cx="9385200" cy="12189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67" name="Google Shape;67;gc768f65d73_0_10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8" name="Shape 68"/>
        <p:cNvGrpSpPr/>
        <p:nvPr/>
      </p:nvGrpSpPr>
      <p:grpSpPr>
        <a:xfrm>
          <a:off x="0" y="0"/>
          <a:ext cx="0" cy="0"/>
          <a:chOff x="0" y="0"/>
          <a:chExt cx="0" cy="0"/>
        </a:xfrm>
      </p:grpSpPr>
      <p:grpSp>
        <p:nvGrpSpPr>
          <p:cNvPr id="69" name="Google Shape;69;gc768f65d73_0_108"/>
          <p:cNvGrpSpPr/>
          <p:nvPr/>
        </p:nvGrpSpPr>
        <p:grpSpPr>
          <a:xfrm>
            <a:off x="0" y="507989"/>
            <a:ext cx="1383765" cy="1355017"/>
            <a:chOff x="0" y="381001"/>
            <a:chExt cx="1037850" cy="1016288"/>
          </a:xfrm>
        </p:grpSpPr>
        <p:sp>
          <p:nvSpPr>
            <p:cNvPr id="70" name="Google Shape;70;gc768f65d73_0_108"/>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c768f65d73_0_108"/>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2" name="Google Shape;72;gc768f65d73_0_108"/>
          <p:cNvSpPr txBox="1"/>
          <p:nvPr>
            <p:ph type="title"/>
          </p:nvPr>
        </p:nvSpPr>
        <p:spPr>
          <a:xfrm>
            <a:off x="1730000" y="525000"/>
            <a:ext cx="5065200" cy="19908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73" name="Google Shape;73;gc768f65d73_0_108"/>
          <p:cNvSpPr txBox="1"/>
          <p:nvPr>
            <p:ph idx="1" type="body"/>
          </p:nvPr>
        </p:nvSpPr>
        <p:spPr>
          <a:xfrm>
            <a:off x="1730000" y="2630067"/>
            <a:ext cx="5065200" cy="32211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74" name="Google Shape;74;gc768f65d73_0_10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grpSp>
        <p:nvGrpSpPr>
          <p:cNvPr id="76" name="Google Shape;76;gc768f65d73_0_115"/>
          <p:cNvGrpSpPr/>
          <p:nvPr/>
        </p:nvGrpSpPr>
        <p:grpSpPr>
          <a:xfrm>
            <a:off x="5875053" y="0"/>
            <a:ext cx="6316642" cy="6857829"/>
            <a:chOff x="4406400" y="0"/>
            <a:chExt cx="4737600" cy="5143500"/>
          </a:xfrm>
        </p:grpSpPr>
        <p:sp>
          <p:nvSpPr>
            <p:cNvPr id="77" name="Google Shape;77;gc768f65d73_0_115"/>
            <p:cNvSpPr/>
            <p:nvPr/>
          </p:nvSpPr>
          <p:spPr>
            <a:xfrm rot="5400000">
              <a:off x="4407900" y="-1500"/>
              <a:ext cx="4734600" cy="4737600"/>
            </a:xfrm>
            <a:prstGeom prst="diagStripe">
              <a:avLst>
                <a:gd fmla="val 49469" name="adj"/>
              </a:avLst>
            </a:prstGeom>
            <a:solidFill>
              <a:schemeClr val="lt1">
                <a:alpha val="3137"/>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gc768f65d73_0_115"/>
            <p:cNvSpPr/>
            <p:nvPr/>
          </p:nvSpPr>
          <p:spPr>
            <a:xfrm rot="5400000">
              <a:off x="4840825" y="6000"/>
              <a:ext cx="4298700" cy="4286700"/>
            </a:xfrm>
            <a:prstGeom prst="diagStripe">
              <a:avLst>
                <a:gd fmla="val 0" name="adj"/>
              </a:avLst>
            </a:prstGeom>
            <a:solidFill>
              <a:schemeClr val="lt1">
                <a:alpha val="3137"/>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gc768f65d73_0_115"/>
            <p:cNvSpPr/>
            <p:nvPr/>
          </p:nvSpPr>
          <p:spPr>
            <a:xfrm rot="-5400000">
              <a:off x="5618399" y="1236641"/>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gc768f65d73_0_115"/>
            <p:cNvSpPr/>
            <p:nvPr/>
          </p:nvSpPr>
          <p:spPr>
            <a:xfrm flipH="1">
              <a:off x="5849857" y="1444078"/>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gc768f65d73_0_115"/>
            <p:cNvSpPr/>
            <p:nvPr/>
          </p:nvSpPr>
          <p:spPr>
            <a:xfrm rot="-5400000">
              <a:off x="5987081" y="2469743"/>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gc768f65d73_0_115"/>
            <p:cNvSpPr/>
            <p:nvPr/>
          </p:nvSpPr>
          <p:spPr>
            <a:xfrm flipH="1">
              <a:off x="6222115" y="2677179"/>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c768f65d73_0_115"/>
            <p:cNvSpPr/>
            <p:nvPr/>
          </p:nvSpPr>
          <p:spPr>
            <a:xfrm rot="-5400000">
              <a:off x="6675341" y="1862244"/>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c768f65d73_0_115"/>
            <p:cNvSpPr/>
            <p:nvPr/>
          </p:nvSpPr>
          <p:spPr>
            <a:xfrm flipH="1">
              <a:off x="6908099" y="2069680"/>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c768f65d73_0_115"/>
            <p:cNvSpPr/>
            <p:nvPr/>
          </p:nvSpPr>
          <p:spPr>
            <a:xfrm rot="-5400000">
              <a:off x="6861141" y="2478088"/>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c768f65d73_0_115"/>
            <p:cNvSpPr/>
            <p:nvPr/>
          </p:nvSpPr>
          <p:spPr>
            <a:xfrm flipH="1">
              <a:off x="7965266" y="2693191"/>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c768f65d73_0_115"/>
            <p:cNvSpPr/>
            <p:nvPr/>
          </p:nvSpPr>
          <p:spPr>
            <a:xfrm flipH="1">
              <a:off x="8145082" y="3309036"/>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c768f65d73_0_115"/>
            <p:cNvSpPr/>
            <p:nvPr/>
          </p:nvSpPr>
          <p:spPr>
            <a:xfrm rot="-5400000">
              <a:off x="7047599" y="3095345"/>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c768f65d73_0_115"/>
            <p:cNvSpPr/>
            <p:nvPr/>
          </p:nvSpPr>
          <p:spPr>
            <a:xfrm flipH="1">
              <a:off x="7276649" y="3302781"/>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c768f65d73_0_115"/>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c768f65d73_0_115"/>
            <p:cNvSpPr/>
            <p:nvPr/>
          </p:nvSpPr>
          <p:spPr>
            <a:xfrm flipH="1">
              <a:off x="7462448" y="3918625"/>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gc768f65d73_0_115"/>
            <p:cNvSpPr/>
            <p:nvPr/>
          </p:nvSpPr>
          <p:spPr>
            <a:xfrm rot="-5400000">
              <a:off x="8102491" y="3718856"/>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gc768f65d73_0_115"/>
            <p:cNvSpPr/>
            <p:nvPr/>
          </p:nvSpPr>
          <p:spPr>
            <a:xfrm flipH="1">
              <a:off x="8334533" y="3926292"/>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c768f65d73_0_115"/>
            <p:cNvSpPr/>
            <p:nvPr/>
          </p:nvSpPr>
          <p:spPr>
            <a:xfrm rot="-5400000">
              <a:off x="8288290" y="4334700"/>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gc768f65d73_0_115"/>
          <p:cNvSpPr txBox="1"/>
          <p:nvPr>
            <p:ph type="title"/>
          </p:nvPr>
        </p:nvSpPr>
        <p:spPr>
          <a:xfrm>
            <a:off x="1098467" y="1155700"/>
            <a:ext cx="6116100" cy="46947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96" name="Google Shape;96;gc768f65d73_0_11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7" name="Shape 97"/>
        <p:cNvGrpSpPr/>
        <p:nvPr/>
      </p:nvGrpSpPr>
      <p:grpSpPr>
        <a:xfrm>
          <a:off x="0" y="0"/>
          <a:ext cx="0" cy="0"/>
          <a:chOff x="0" y="0"/>
          <a:chExt cx="0" cy="0"/>
        </a:xfrm>
      </p:grpSpPr>
      <p:grpSp>
        <p:nvGrpSpPr>
          <p:cNvPr id="98" name="Google Shape;98;gc768f65d73_0_137"/>
          <p:cNvGrpSpPr/>
          <p:nvPr/>
        </p:nvGrpSpPr>
        <p:grpSpPr>
          <a:xfrm>
            <a:off x="0" y="507989"/>
            <a:ext cx="1383765" cy="1355017"/>
            <a:chOff x="0" y="381001"/>
            <a:chExt cx="1037850" cy="1016288"/>
          </a:xfrm>
        </p:grpSpPr>
        <p:sp>
          <p:nvSpPr>
            <p:cNvPr id="99" name="Google Shape;99;gc768f65d73_0_137"/>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gc768f65d73_0_137"/>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1" name="Google Shape;101;gc768f65d73_0_137"/>
          <p:cNvSpPr txBox="1"/>
          <p:nvPr>
            <p:ph type="title"/>
          </p:nvPr>
        </p:nvSpPr>
        <p:spPr>
          <a:xfrm>
            <a:off x="1730000" y="2211100"/>
            <a:ext cx="4048500" cy="2335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02" name="Google Shape;102;gc768f65d73_0_137"/>
          <p:cNvSpPr txBox="1"/>
          <p:nvPr>
            <p:ph idx="1" type="subTitle"/>
          </p:nvPr>
        </p:nvSpPr>
        <p:spPr>
          <a:xfrm>
            <a:off x="1730000" y="4717333"/>
            <a:ext cx="4048500" cy="6747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1700"/>
              <a:buNone/>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103" name="Google Shape;103;gc768f65d73_0_137"/>
          <p:cNvSpPr txBox="1"/>
          <p:nvPr>
            <p:ph idx="2" type="body"/>
          </p:nvPr>
        </p:nvSpPr>
        <p:spPr>
          <a:xfrm>
            <a:off x="6197600" y="2262133"/>
            <a:ext cx="4902300" cy="31299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104" name="Google Shape;104;gc768f65d73_0_13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5" name="Shape 105"/>
        <p:cNvGrpSpPr/>
        <p:nvPr/>
      </p:nvGrpSpPr>
      <p:grpSpPr>
        <a:xfrm>
          <a:off x="0" y="0"/>
          <a:ext cx="0" cy="0"/>
          <a:chOff x="0" y="0"/>
          <a:chExt cx="0" cy="0"/>
        </a:xfrm>
      </p:grpSpPr>
      <p:grpSp>
        <p:nvGrpSpPr>
          <p:cNvPr id="106" name="Google Shape;106;gc768f65d73_0_145"/>
          <p:cNvGrpSpPr/>
          <p:nvPr/>
        </p:nvGrpSpPr>
        <p:grpSpPr>
          <a:xfrm>
            <a:off x="0" y="5504636"/>
            <a:ext cx="931877" cy="912853"/>
            <a:chOff x="0" y="3785672"/>
            <a:chExt cx="698925" cy="684657"/>
          </a:xfrm>
        </p:grpSpPr>
        <p:sp>
          <p:nvSpPr>
            <p:cNvPr id="107" name="Google Shape;107;gc768f65d73_0_145"/>
            <p:cNvSpPr/>
            <p:nvPr/>
          </p:nvSpPr>
          <p:spPr>
            <a:xfrm rot="-5400000">
              <a:off x="0" y="3785672"/>
              <a:ext cx="544800" cy="544800"/>
            </a:xfrm>
            <a:prstGeom prst="diagStripe">
              <a:avLst>
                <a:gd fmla="val 50000" name="adj"/>
              </a:avLst>
            </a:prstGeom>
            <a:solidFill>
              <a:schemeClr val="lt1">
                <a:alpha val="9411"/>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gc768f65d73_0_145"/>
            <p:cNvSpPr/>
            <p:nvPr/>
          </p:nvSpPr>
          <p:spPr>
            <a:xfrm flipH="1">
              <a:off x="154125" y="3925529"/>
              <a:ext cx="544800" cy="544800"/>
            </a:xfrm>
            <a:prstGeom prst="diagStripe">
              <a:avLst>
                <a:gd fmla="val 50000" name="adj"/>
              </a:avLst>
            </a:prstGeom>
            <a:solidFill>
              <a:schemeClr val="lt1">
                <a:alpha val="9411"/>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9" name="Google Shape;109;gc768f65d73_0_145"/>
          <p:cNvSpPr txBox="1"/>
          <p:nvPr>
            <p:ph idx="1" type="body"/>
          </p:nvPr>
        </p:nvSpPr>
        <p:spPr>
          <a:xfrm>
            <a:off x="1083633" y="5740500"/>
            <a:ext cx="9248100" cy="6984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1700"/>
              <a:buNone/>
              <a:defRPr/>
            </a:lvl1pPr>
          </a:lstStyle>
          <a:p/>
        </p:txBody>
      </p:sp>
      <p:sp>
        <p:nvSpPr>
          <p:cNvPr id="110" name="Google Shape;110;gc768f65d73_0_14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1" name="Shape 111"/>
        <p:cNvGrpSpPr/>
        <p:nvPr/>
      </p:nvGrpSpPr>
      <p:grpSpPr>
        <a:xfrm>
          <a:off x="0" y="0"/>
          <a:ext cx="0" cy="0"/>
          <a:chOff x="0" y="0"/>
          <a:chExt cx="0" cy="0"/>
        </a:xfrm>
      </p:grpSpPr>
      <p:grpSp>
        <p:nvGrpSpPr>
          <p:cNvPr id="112" name="Google Shape;112;gc768f65d73_0_151"/>
          <p:cNvGrpSpPr/>
          <p:nvPr/>
        </p:nvGrpSpPr>
        <p:grpSpPr>
          <a:xfrm>
            <a:off x="5875053" y="0"/>
            <a:ext cx="6316642" cy="6857248"/>
            <a:chOff x="4406400" y="0"/>
            <a:chExt cx="4737600" cy="5143065"/>
          </a:xfrm>
        </p:grpSpPr>
        <p:sp>
          <p:nvSpPr>
            <p:cNvPr id="113" name="Google Shape;113;gc768f65d73_0_151"/>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gc768f65d73_0_151"/>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c768f65d73_0_151"/>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c768f65d73_0_151"/>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c768f65d73_0_151"/>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c768f65d73_0_151"/>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gc768f65d73_0_151"/>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c768f65d73_0_151"/>
            <p:cNvSpPr/>
            <p:nvPr/>
          </p:nvSpPr>
          <p:spPr>
            <a:xfrm flipH="1">
              <a:off x="6908099" y="2069505"/>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c768f65d73_0_151"/>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gc768f65d73_0_151"/>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c768f65d73_0_151"/>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c768f65d73_0_151"/>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c768f65d73_0_151"/>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c768f65d73_0_15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gc768f65d73_0_151"/>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c768f65d73_0_151"/>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c768f65d73_0_151"/>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c768f65d73_0_151"/>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 name="Google Shape;131;gc768f65d73_0_151"/>
          <p:cNvSpPr txBox="1"/>
          <p:nvPr>
            <p:ph hasCustomPrompt="1" type="title"/>
          </p:nvPr>
        </p:nvSpPr>
        <p:spPr>
          <a:xfrm>
            <a:off x="1098467" y="1712900"/>
            <a:ext cx="6368100" cy="17343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10700"/>
              <a:buNone/>
              <a:defRPr sz="10700"/>
            </a:lvl1pPr>
            <a:lvl2pPr lvl="1" algn="l">
              <a:lnSpc>
                <a:spcPct val="100000"/>
              </a:lnSpc>
              <a:spcBef>
                <a:spcPts val="0"/>
              </a:spcBef>
              <a:spcAft>
                <a:spcPts val="0"/>
              </a:spcAft>
              <a:buSzPts val="10700"/>
              <a:buNone/>
              <a:defRPr sz="10700"/>
            </a:lvl2pPr>
            <a:lvl3pPr lvl="2" algn="l">
              <a:lnSpc>
                <a:spcPct val="100000"/>
              </a:lnSpc>
              <a:spcBef>
                <a:spcPts val="0"/>
              </a:spcBef>
              <a:spcAft>
                <a:spcPts val="0"/>
              </a:spcAft>
              <a:buSzPts val="10700"/>
              <a:buNone/>
              <a:defRPr sz="10700"/>
            </a:lvl3pPr>
            <a:lvl4pPr lvl="3" algn="l">
              <a:lnSpc>
                <a:spcPct val="100000"/>
              </a:lnSpc>
              <a:spcBef>
                <a:spcPts val="0"/>
              </a:spcBef>
              <a:spcAft>
                <a:spcPts val="0"/>
              </a:spcAft>
              <a:buSzPts val="10700"/>
              <a:buNone/>
              <a:defRPr sz="10700"/>
            </a:lvl4pPr>
            <a:lvl5pPr lvl="4" algn="l">
              <a:lnSpc>
                <a:spcPct val="100000"/>
              </a:lnSpc>
              <a:spcBef>
                <a:spcPts val="0"/>
              </a:spcBef>
              <a:spcAft>
                <a:spcPts val="0"/>
              </a:spcAft>
              <a:buSzPts val="10700"/>
              <a:buNone/>
              <a:defRPr sz="10700"/>
            </a:lvl5pPr>
            <a:lvl6pPr lvl="5" algn="l">
              <a:lnSpc>
                <a:spcPct val="100000"/>
              </a:lnSpc>
              <a:spcBef>
                <a:spcPts val="0"/>
              </a:spcBef>
              <a:spcAft>
                <a:spcPts val="0"/>
              </a:spcAft>
              <a:buSzPts val="10700"/>
              <a:buNone/>
              <a:defRPr sz="10700"/>
            </a:lvl6pPr>
            <a:lvl7pPr lvl="6" algn="l">
              <a:lnSpc>
                <a:spcPct val="100000"/>
              </a:lnSpc>
              <a:spcBef>
                <a:spcPts val="0"/>
              </a:spcBef>
              <a:spcAft>
                <a:spcPts val="0"/>
              </a:spcAft>
              <a:buSzPts val="10700"/>
              <a:buNone/>
              <a:defRPr sz="10700"/>
            </a:lvl7pPr>
            <a:lvl8pPr lvl="7" algn="l">
              <a:lnSpc>
                <a:spcPct val="100000"/>
              </a:lnSpc>
              <a:spcBef>
                <a:spcPts val="0"/>
              </a:spcBef>
              <a:spcAft>
                <a:spcPts val="0"/>
              </a:spcAft>
              <a:buSzPts val="10700"/>
              <a:buNone/>
              <a:defRPr sz="10700"/>
            </a:lvl8pPr>
            <a:lvl9pPr lvl="8" algn="l">
              <a:lnSpc>
                <a:spcPct val="100000"/>
              </a:lnSpc>
              <a:spcBef>
                <a:spcPts val="0"/>
              </a:spcBef>
              <a:spcAft>
                <a:spcPts val="0"/>
              </a:spcAft>
              <a:buSzPts val="10700"/>
              <a:buNone/>
              <a:defRPr sz="10700"/>
            </a:lvl9pPr>
          </a:lstStyle>
          <a:p>
            <a:r>
              <a:t>xx%</a:t>
            </a:r>
          </a:p>
        </p:txBody>
      </p:sp>
      <p:sp>
        <p:nvSpPr>
          <p:cNvPr id="132" name="Google Shape;132;gc768f65d73_0_151"/>
          <p:cNvSpPr txBox="1"/>
          <p:nvPr>
            <p:ph idx="1" type="body"/>
          </p:nvPr>
        </p:nvSpPr>
        <p:spPr>
          <a:xfrm>
            <a:off x="1098467" y="3524166"/>
            <a:ext cx="6368100" cy="1625100"/>
          </a:xfrm>
          <a:prstGeom prst="rect">
            <a:avLst/>
          </a:prstGeom>
          <a:noFill/>
          <a:ln>
            <a:noFill/>
          </a:ln>
        </p:spPr>
        <p:txBody>
          <a:bodyPr anchorCtr="0" anchor="t" bIns="121900" lIns="121900" spcFirstLastPara="1" rIns="121900" wrap="square" tIns="121900">
            <a:normAutofit/>
          </a:bodyPr>
          <a:lstStyle>
            <a:lvl1pPr indent="-336550" lvl="0" marL="457200" algn="l">
              <a:lnSpc>
                <a:spcPct val="115000"/>
              </a:lnSpc>
              <a:spcBef>
                <a:spcPts val="0"/>
              </a:spcBef>
              <a:spcAft>
                <a:spcPts val="0"/>
              </a:spcAft>
              <a:buSzPts val="17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133" name="Google Shape;133;gc768f65d73_0_15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 name="Shape 134"/>
        <p:cNvGrpSpPr/>
        <p:nvPr/>
      </p:nvGrpSpPr>
      <p:grpSpPr>
        <a:xfrm>
          <a:off x="0" y="0"/>
          <a:ext cx="0" cy="0"/>
          <a:chOff x="0" y="0"/>
          <a:chExt cx="0" cy="0"/>
        </a:xfrm>
      </p:grpSpPr>
      <p:sp>
        <p:nvSpPr>
          <p:cNvPr id="135" name="Google Shape;135;gc768f65d73_0_17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gc768f65d73_0_5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lt1"/>
              </a:buClr>
              <a:buSzPts val="3700"/>
              <a:buFont typeface="Montserrat"/>
              <a:buNone/>
              <a:defRPr b="0" i="0" sz="37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3700"/>
              <a:buFont typeface="Montserrat"/>
              <a:buNone/>
              <a:defRPr b="0" i="0" sz="37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3700"/>
              <a:buFont typeface="Montserrat"/>
              <a:buNone/>
              <a:defRPr b="0" i="0" sz="37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3700"/>
              <a:buFont typeface="Montserrat"/>
              <a:buNone/>
              <a:defRPr b="0" i="0" sz="37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3700"/>
              <a:buFont typeface="Montserrat"/>
              <a:buNone/>
              <a:defRPr b="0" i="0" sz="37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3700"/>
              <a:buFont typeface="Montserrat"/>
              <a:buNone/>
              <a:defRPr b="0" i="0" sz="37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3700"/>
              <a:buFont typeface="Montserrat"/>
              <a:buNone/>
              <a:defRPr b="0" i="0" sz="37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3700"/>
              <a:buFont typeface="Montserrat"/>
              <a:buNone/>
              <a:defRPr b="0" i="0" sz="37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3700"/>
              <a:buFont typeface="Montserrat"/>
              <a:buNone/>
              <a:defRPr b="0" i="0" sz="3700" u="none" cap="none" strike="noStrike">
                <a:solidFill>
                  <a:schemeClr val="lt1"/>
                </a:solidFill>
                <a:latin typeface="Montserrat"/>
                <a:ea typeface="Montserrat"/>
                <a:cs typeface="Montserrat"/>
                <a:sym typeface="Montserrat"/>
              </a:defRPr>
            </a:lvl9pPr>
          </a:lstStyle>
          <a:p/>
        </p:txBody>
      </p:sp>
      <p:sp>
        <p:nvSpPr>
          <p:cNvPr id="7" name="Google Shape;7;gc768f65d73_0_5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marR="0" rtl="0" algn="l">
              <a:lnSpc>
                <a:spcPct val="115000"/>
              </a:lnSpc>
              <a:spcBef>
                <a:spcPts val="0"/>
              </a:spcBef>
              <a:spcAft>
                <a:spcPts val="0"/>
              </a:spcAft>
              <a:buClr>
                <a:schemeClr val="lt1"/>
              </a:buClr>
              <a:buSzPts val="1700"/>
              <a:buFont typeface="Lato"/>
              <a:buChar char="●"/>
              <a:defRPr b="0" i="0" sz="1700" u="none" cap="none" strike="noStrike">
                <a:solidFill>
                  <a:schemeClr val="lt1"/>
                </a:solidFill>
                <a:latin typeface="Lato"/>
                <a:ea typeface="Lato"/>
                <a:cs typeface="Lato"/>
                <a:sym typeface="Lato"/>
              </a:defRPr>
            </a:lvl1pPr>
            <a:lvl2pPr indent="-323850" lvl="1" marL="914400" marR="0" rtl="0" algn="l">
              <a:lnSpc>
                <a:spcPct val="115000"/>
              </a:lnSpc>
              <a:spcBef>
                <a:spcPts val="0"/>
              </a:spcBef>
              <a:spcAft>
                <a:spcPts val="0"/>
              </a:spcAft>
              <a:buClr>
                <a:schemeClr val="lt1"/>
              </a:buClr>
              <a:buSzPts val="1500"/>
              <a:buFont typeface="Lato"/>
              <a:buChar char="○"/>
              <a:defRPr b="0" i="0" sz="1500" u="none" cap="none" strike="noStrike">
                <a:solidFill>
                  <a:schemeClr val="lt1"/>
                </a:solidFill>
                <a:latin typeface="Lato"/>
                <a:ea typeface="Lato"/>
                <a:cs typeface="Lato"/>
                <a:sym typeface="Lato"/>
              </a:defRPr>
            </a:lvl2pPr>
            <a:lvl3pPr indent="-323850" lvl="2" marL="1371600" marR="0" rtl="0" algn="l">
              <a:lnSpc>
                <a:spcPct val="115000"/>
              </a:lnSpc>
              <a:spcBef>
                <a:spcPts val="0"/>
              </a:spcBef>
              <a:spcAft>
                <a:spcPts val="0"/>
              </a:spcAft>
              <a:buClr>
                <a:schemeClr val="lt1"/>
              </a:buClr>
              <a:buSzPts val="1500"/>
              <a:buFont typeface="Lato"/>
              <a:buChar char="■"/>
              <a:defRPr b="0" i="0" sz="1500" u="none" cap="none" strike="noStrike">
                <a:solidFill>
                  <a:schemeClr val="lt1"/>
                </a:solidFill>
                <a:latin typeface="Lato"/>
                <a:ea typeface="Lato"/>
                <a:cs typeface="Lato"/>
                <a:sym typeface="Lato"/>
              </a:defRPr>
            </a:lvl3pPr>
            <a:lvl4pPr indent="-323850" lvl="3" marL="1828800" marR="0" rtl="0" algn="l">
              <a:lnSpc>
                <a:spcPct val="115000"/>
              </a:lnSpc>
              <a:spcBef>
                <a:spcPts val="0"/>
              </a:spcBef>
              <a:spcAft>
                <a:spcPts val="0"/>
              </a:spcAft>
              <a:buClr>
                <a:schemeClr val="lt1"/>
              </a:buClr>
              <a:buSzPts val="1500"/>
              <a:buFont typeface="Lato"/>
              <a:buChar char="●"/>
              <a:defRPr b="0" i="0" sz="1500" u="none" cap="none" strike="noStrike">
                <a:solidFill>
                  <a:schemeClr val="lt1"/>
                </a:solidFill>
                <a:latin typeface="Lato"/>
                <a:ea typeface="Lato"/>
                <a:cs typeface="Lato"/>
                <a:sym typeface="Lato"/>
              </a:defRPr>
            </a:lvl4pPr>
            <a:lvl5pPr indent="-323850" lvl="4" marL="2286000" marR="0" rtl="0" algn="l">
              <a:lnSpc>
                <a:spcPct val="115000"/>
              </a:lnSpc>
              <a:spcBef>
                <a:spcPts val="0"/>
              </a:spcBef>
              <a:spcAft>
                <a:spcPts val="0"/>
              </a:spcAft>
              <a:buClr>
                <a:schemeClr val="lt1"/>
              </a:buClr>
              <a:buSzPts val="1500"/>
              <a:buFont typeface="Lato"/>
              <a:buChar char="○"/>
              <a:defRPr b="0" i="0" sz="1500" u="none" cap="none" strike="noStrike">
                <a:solidFill>
                  <a:schemeClr val="lt1"/>
                </a:solidFill>
                <a:latin typeface="Lato"/>
                <a:ea typeface="Lato"/>
                <a:cs typeface="Lato"/>
                <a:sym typeface="Lato"/>
              </a:defRPr>
            </a:lvl5pPr>
            <a:lvl6pPr indent="-323850" lvl="5" marL="2743200" marR="0" rtl="0" algn="l">
              <a:lnSpc>
                <a:spcPct val="115000"/>
              </a:lnSpc>
              <a:spcBef>
                <a:spcPts val="0"/>
              </a:spcBef>
              <a:spcAft>
                <a:spcPts val="0"/>
              </a:spcAft>
              <a:buClr>
                <a:schemeClr val="lt1"/>
              </a:buClr>
              <a:buSzPts val="1500"/>
              <a:buFont typeface="Lato"/>
              <a:buChar char="■"/>
              <a:defRPr b="0" i="0" sz="1500" u="none" cap="none" strike="noStrike">
                <a:solidFill>
                  <a:schemeClr val="lt1"/>
                </a:solidFill>
                <a:latin typeface="Lato"/>
                <a:ea typeface="Lato"/>
                <a:cs typeface="Lato"/>
                <a:sym typeface="Lato"/>
              </a:defRPr>
            </a:lvl6pPr>
            <a:lvl7pPr indent="-323850" lvl="6" marL="3200400" marR="0" rtl="0" algn="l">
              <a:lnSpc>
                <a:spcPct val="115000"/>
              </a:lnSpc>
              <a:spcBef>
                <a:spcPts val="0"/>
              </a:spcBef>
              <a:spcAft>
                <a:spcPts val="0"/>
              </a:spcAft>
              <a:buClr>
                <a:schemeClr val="lt1"/>
              </a:buClr>
              <a:buSzPts val="1500"/>
              <a:buFont typeface="Lato"/>
              <a:buChar char="●"/>
              <a:defRPr b="0" i="0" sz="1500" u="none" cap="none" strike="noStrike">
                <a:solidFill>
                  <a:schemeClr val="lt1"/>
                </a:solidFill>
                <a:latin typeface="Lato"/>
                <a:ea typeface="Lato"/>
                <a:cs typeface="Lato"/>
                <a:sym typeface="Lato"/>
              </a:defRPr>
            </a:lvl7pPr>
            <a:lvl8pPr indent="-323850" lvl="7" marL="3657600" marR="0" rtl="0" algn="l">
              <a:lnSpc>
                <a:spcPct val="115000"/>
              </a:lnSpc>
              <a:spcBef>
                <a:spcPts val="0"/>
              </a:spcBef>
              <a:spcAft>
                <a:spcPts val="0"/>
              </a:spcAft>
              <a:buClr>
                <a:schemeClr val="lt1"/>
              </a:buClr>
              <a:buSzPts val="1500"/>
              <a:buFont typeface="Lato"/>
              <a:buChar char="○"/>
              <a:defRPr b="0" i="0" sz="1500" u="none" cap="none" strike="noStrike">
                <a:solidFill>
                  <a:schemeClr val="lt1"/>
                </a:solidFill>
                <a:latin typeface="Lato"/>
                <a:ea typeface="Lato"/>
                <a:cs typeface="Lato"/>
                <a:sym typeface="Lato"/>
              </a:defRPr>
            </a:lvl8pPr>
            <a:lvl9pPr indent="-323850" lvl="8" marL="4114800" marR="0" rtl="0" algn="l">
              <a:lnSpc>
                <a:spcPct val="115000"/>
              </a:lnSpc>
              <a:spcBef>
                <a:spcPts val="0"/>
              </a:spcBef>
              <a:spcAft>
                <a:spcPts val="0"/>
              </a:spcAft>
              <a:buClr>
                <a:schemeClr val="lt1"/>
              </a:buClr>
              <a:buSzPts val="1500"/>
              <a:buFont typeface="Lato"/>
              <a:buChar char="■"/>
              <a:defRPr b="0" i="0" sz="1500" u="none" cap="none" strike="noStrike">
                <a:solidFill>
                  <a:schemeClr val="lt1"/>
                </a:solidFill>
                <a:latin typeface="Lato"/>
                <a:ea typeface="Lato"/>
                <a:cs typeface="Lato"/>
                <a:sym typeface="Lato"/>
              </a:defRPr>
            </a:lvl9pPr>
          </a:lstStyle>
          <a:p/>
        </p:txBody>
      </p:sp>
      <p:sp>
        <p:nvSpPr>
          <p:cNvPr id="8" name="Google Shape;8;gc768f65d73_0_5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github.com/NjorogeWinnie/IMDB-Movie-Data-Analysis/tree/mai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
          <p:cNvSpPr txBox="1"/>
          <p:nvPr>
            <p:ph type="ctrTitle"/>
          </p:nvPr>
        </p:nvSpPr>
        <p:spPr>
          <a:xfrm>
            <a:off x="4716200" y="2104533"/>
            <a:ext cx="6690000" cy="21051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IMDB MOVIES</a:t>
            </a:r>
            <a:endParaRPr/>
          </a:p>
          <a:p>
            <a:pPr indent="0" lvl="0" marL="0" rtl="0" algn="ctr">
              <a:lnSpc>
                <a:spcPct val="90000"/>
              </a:lnSpc>
              <a:spcBef>
                <a:spcPts val="0"/>
              </a:spcBef>
              <a:spcAft>
                <a:spcPts val="0"/>
              </a:spcAft>
              <a:buClr>
                <a:schemeClr val="dk1"/>
              </a:buClr>
              <a:buSzPts val="6000"/>
              <a:buFont typeface="Calibri"/>
              <a:buNone/>
            </a:pPr>
            <a:r>
              <a:rPr lang="en-US"/>
              <a:t>Data Analysis</a:t>
            </a:r>
            <a:endParaRPr/>
          </a:p>
        </p:txBody>
      </p:sp>
      <p:sp>
        <p:nvSpPr>
          <p:cNvPr id="141" name="Google Shape;141;p1"/>
          <p:cNvSpPr txBox="1"/>
          <p:nvPr>
            <p:ph idx="1" type="subTitle"/>
          </p:nvPr>
        </p:nvSpPr>
        <p:spPr>
          <a:xfrm>
            <a:off x="4716200" y="4400315"/>
            <a:ext cx="6690000" cy="14715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Clr>
                <a:schemeClr val="dk1"/>
              </a:buClr>
              <a:buSzPts val="2400"/>
              <a:buNone/>
            </a:pPr>
            <a:r>
              <a:rPr lang="en-US"/>
              <a:t>Prepared by:</a:t>
            </a:r>
            <a:endParaRPr/>
          </a:p>
          <a:p>
            <a:pPr indent="0" lvl="0" marL="0" rtl="0" algn="ctr">
              <a:lnSpc>
                <a:spcPct val="90000"/>
              </a:lnSpc>
              <a:spcBef>
                <a:spcPts val="1000"/>
              </a:spcBef>
              <a:spcAft>
                <a:spcPts val="0"/>
              </a:spcAft>
              <a:buClr>
                <a:schemeClr val="dk1"/>
              </a:buClr>
              <a:buSzPts val="2400"/>
              <a:buNone/>
            </a:pPr>
            <a:r>
              <a:rPr lang="en-US"/>
              <a:t>Winnie Njoroge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
          <p:cNvSpPr txBox="1"/>
          <p:nvPr>
            <p:ph type="title"/>
          </p:nvPr>
        </p:nvSpPr>
        <p:spPr>
          <a:xfrm>
            <a:off x="4070800" y="515325"/>
            <a:ext cx="5516100" cy="1218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Main Goal</a:t>
            </a:r>
            <a:endParaRPr/>
          </a:p>
        </p:txBody>
      </p:sp>
      <p:sp>
        <p:nvSpPr>
          <p:cNvPr id="147" name="Google Shape;147;p2"/>
          <p:cNvSpPr txBox="1"/>
          <p:nvPr>
            <p:ph idx="1" type="body"/>
          </p:nvPr>
        </p:nvSpPr>
        <p:spPr>
          <a:xfrm>
            <a:off x="1730000" y="2090067"/>
            <a:ext cx="4537500" cy="3881700"/>
          </a:xfrm>
          <a:prstGeom prst="rect">
            <a:avLst/>
          </a:prstGeom>
          <a:noFill/>
          <a:ln>
            <a:noFill/>
          </a:ln>
        </p:spPr>
        <p:txBody>
          <a:bodyPr anchorCtr="0" anchor="t" bIns="45700" lIns="91425" spcFirstLastPara="1" rIns="91425" wrap="square" tIns="45700">
            <a:normAutofit/>
          </a:bodyPr>
          <a:lstStyle/>
          <a:p>
            <a:pPr indent="-330200" lvl="0" marL="228600" rtl="0" algn="l">
              <a:lnSpc>
                <a:spcPct val="90000"/>
              </a:lnSpc>
              <a:spcBef>
                <a:spcPts val="0"/>
              </a:spcBef>
              <a:spcAft>
                <a:spcPts val="1600"/>
              </a:spcAft>
              <a:buClr>
                <a:schemeClr val="dk1"/>
              </a:buClr>
              <a:buSzPts val="5200"/>
              <a:buFont typeface="Times New Roman"/>
              <a:buChar char="●"/>
            </a:pPr>
            <a:r>
              <a:rPr lang="en-US" sz="4600">
                <a:latin typeface="Times New Roman"/>
                <a:ea typeface="Times New Roman"/>
                <a:cs typeface="Times New Roman"/>
                <a:sym typeface="Times New Roman"/>
              </a:rPr>
              <a:t>Microsoft wants to create successful and high-grossing films</a:t>
            </a:r>
            <a:endParaRPr sz="4600">
              <a:latin typeface="Times New Roman"/>
              <a:ea typeface="Times New Roman"/>
              <a:cs typeface="Times New Roman"/>
              <a:sym typeface="Times New Roman"/>
            </a:endParaRPr>
          </a:p>
        </p:txBody>
      </p:sp>
      <p:pic>
        <p:nvPicPr>
          <p:cNvPr id="148" name="Google Shape;148;p2"/>
          <p:cNvPicPr preferRelativeResize="0"/>
          <p:nvPr/>
        </p:nvPicPr>
        <p:blipFill>
          <a:blip r:embed="rId3">
            <a:alphaModFix/>
          </a:blip>
          <a:stretch>
            <a:fillRect/>
          </a:stretch>
        </p:blipFill>
        <p:spPr>
          <a:xfrm>
            <a:off x="6419900" y="1896300"/>
            <a:ext cx="5035300" cy="3776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
          <p:cNvSpPr txBox="1"/>
          <p:nvPr>
            <p:ph type="title"/>
          </p:nvPr>
        </p:nvSpPr>
        <p:spPr>
          <a:xfrm>
            <a:off x="1730000" y="525000"/>
            <a:ext cx="9385200" cy="1218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Understanding the Context</a:t>
            </a:r>
            <a:endParaRPr/>
          </a:p>
        </p:txBody>
      </p:sp>
      <p:sp>
        <p:nvSpPr>
          <p:cNvPr id="154" name="Google Shape;154;p3"/>
          <p:cNvSpPr txBox="1"/>
          <p:nvPr>
            <p:ph idx="1" type="body"/>
          </p:nvPr>
        </p:nvSpPr>
        <p:spPr>
          <a:xfrm>
            <a:off x="1730000" y="2090075"/>
            <a:ext cx="8719800" cy="3881700"/>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0"/>
              </a:spcBef>
              <a:spcAft>
                <a:spcPts val="1600"/>
              </a:spcAft>
              <a:buClr>
                <a:schemeClr val="dk1"/>
              </a:buClr>
              <a:buSzPts val="3900"/>
              <a:buFont typeface="Times New Roman"/>
              <a:buChar char="●"/>
            </a:pPr>
            <a:r>
              <a:rPr lang="en-US" sz="2800">
                <a:latin typeface="Times New Roman"/>
                <a:ea typeface="Times New Roman"/>
                <a:cs typeface="Times New Roman"/>
                <a:sym typeface="Times New Roman"/>
              </a:rPr>
              <a:t>Microsoft sees all the big companies creating original video content and they want to get in on the fun. They have decided to create a new movie studio, but they don’t know anything about creating movies. You are charged with exploring what types of films are currently doing the best at the box office. You must then translate those findings into actionable insights that the head of Microsoft's new movie studio can use to help decide what type of films to create.</a:t>
            </a:r>
            <a:endParaRPr sz="28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Experimental Design</a:t>
            </a:r>
            <a:endParaRPr/>
          </a:p>
        </p:txBody>
      </p:sp>
      <p:sp>
        <p:nvSpPr>
          <p:cNvPr id="160" name="Google Shape;16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34950" lvl="0" marL="228600" rtl="0" algn="l">
              <a:lnSpc>
                <a:spcPct val="90000"/>
              </a:lnSpc>
              <a:spcBef>
                <a:spcPts val="0"/>
              </a:spcBef>
              <a:spcAft>
                <a:spcPts val="0"/>
              </a:spcAft>
              <a:buClr>
                <a:schemeClr val="dk1"/>
              </a:buClr>
              <a:buSzPts val="3500"/>
              <a:buFont typeface="Times New Roman"/>
              <a:buChar char="●"/>
            </a:pPr>
            <a:r>
              <a:rPr lang="en-US" sz="1800">
                <a:latin typeface="Times New Roman"/>
                <a:ea typeface="Times New Roman"/>
                <a:cs typeface="Times New Roman"/>
                <a:sym typeface="Times New Roman"/>
              </a:rPr>
              <a:t>1. Business Understanding</a:t>
            </a:r>
            <a:endParaRPr sz="1800">
              <a:latin typeface="Times New Roman"/>
              <a:ea typeface="Times New Roman"/>
              <a:cs typeface="Times New Roman"/>
              <a:sym typeface="Times New Roman"/>
            </a:endParaRPr>
          </a:p>
          <a:p>
            <a:pPr indent="-234950" lvl="0" marL="228600" rtl="0" algn="l">
              <a:lnSpc>
                <a:spcPct val="90000"/>
              </a:lnSpc>
              <a:spcBef>
                <a:spcPts val="0"/>
              </a:spcBef>
              <a:spcAft>
                <a:spcPts val="0"/>
              </a:spcAft>
              <a:buClr>
                <a:schemeClr val="dk1"/>
              </a:buClr>
              <a:buSzPts val="3500"/>
              <a:buFont typeface="Times New Roman"/>
              <a:buChar char="●"/>
            </a:pPr>
            <a:r>
              <a:rPr lang="en-US" sz="1800">
                <a:latin typeface="Times New Roman"/>
                <a:ea typeface="Times New Roman"/>
                <a:cs typeface="Times New Roman"/>
                <a:sym typeface="Times New Roman"/>
              </a:rPr>
              <a:t>2. Data Preparation</a:t>
            </a:r>
            <a:endParaRPr sz="1800">
              <a:latin typeface="Times New Roman"/>
              <a:ea typeface="Times New Roman"/>
              <a:cs typeface="Times New Roman"/>
              <a:sym typeface="Times New Roman"/>
            </a:endParaRPr>
          </a:p>
          <a:p>
            <a:pPr indent="-234950" lvl="0" marL="228600" rtl="0" algn="l">
              <a:lnSpc>
                <a:spcPct val="90000"/>
              </a:lnSpc>
              <a:spcBef>
                <a:spcPts val="0"/>
              </a:spcBef>
              <a:spcAft>
                <a:spcPts val="0"/>
              </a:spcAft>
              <a:buClr>
                <a:schemeClr val="dk1"/>
              </a:buClr>
              <a:buSzPts val="3500"/>
              <a:buFont typeface="Times New Roman"/>
              <a:buChar char="●"/>
            </a:pPr>
            <a:r>
              <a:rPr lang="en-US" sz="1800">
                <a:latin typeface="Times New Roman"/>
                <a:ea typeface="Times New Roman"/>
                <a:cs typeface="Times New Roman"/>
                <a:sym typeface="Times New Roman"/>
              </a:rPr>
              <a:t>    * Reading the Data</a:t>
            </a:r>
            <a:endParaRPr sz="1800">
              <a:latin typeface="Times New Roman"/>
              <a:ea typeface="Times New Roman"/>
              <a:cs typeface="Times New Roman"/>
              <a:sym typeface="Times New Roman"/>
            </a:endParaRPr>
          </a:p>
          <a:p>
            <a:pPr indent="-234950" lvl="0" marL="228600" rtl="0" algn="l">
              <a:lnSpc>
                <a:spcPct val="90000"/>
              </a:lnSpc>
              <a:spcBef>
                <a:spcPts val="0"/>
              </a:spcBef>
              <a:spcAft>
                <a:spcPts val="0"/>
              </a:spcAft>
              <a:buClr>
                <a:schemeClr val="dk1"/>
              </a:buClr>
              <a:buSzPts val="3500"/>
              <a:buFont typeface="Times New Roman"/>
              <a:buChar char="●"/>
            </a:pPr>
            <a:r>
              <a:rPr lang="en-US" sz="1800">
                <a:latin typeface="Times New Roman"/>
                <a:ea typeface="Times New Roman"/>
                <a:cs typeface="Times New Roman"/>
                <a:sym typeface="Times New Roman"/>
              </a:rPr>
              <a:t>    * Checking the Data</a:t>
            </a:r>
            <a:endParaRPr sz="1800">
              <a:latin typeface="Times New Roman"/>
              <a:ea typeface="Times New Roman"/>
              <a:cs typeface="Times New Roman"/>
              <a:sym typeface="Times New Roman"/>
            </a:endParaRPr>
          </a:p>
          <a:p>
            <a:pPr indent="-234950" lvl="0" marL="228600" rtl="0" algn="l">
              <a:lnSpc>
                <a:spcPct val="90000"/>
              </a:lnSpc>
              <a:spcBef>
                <a:spcPts val="0"/>
              </a:spcBef>
              <a:spcAft>
                <a:spcPts val="0"/>
              </a:spcAft>
              <a:buClr>
                <a:schemeClr val="dk1"/>
              </a:buClr>
              <a:buSzPts val="3500"/>
              <a:buFont typeface="Times New Roman"/>
              <a:buChar char="●"/>
            </a:pPr>
            <a:r>
              <a:rPr lang="en-US" sz="1800">
                <a:latin typeface="Times New Roman"/>
                <a:ea typeface="Times New Roman"/>
                <a:cs typeface="Times New Roman"/>
                <a:sym typeface="Times New Roman"/>
              </a:rPr>
              <a:t>3. Data Cleaning</a:t>
            </a:r>
            <a:endParaRPr sz="1800">
              <a:latin typeface="Times New Roman"/>
              <a:ea typeface="Times New Roman"/>
              <a:cs typeface="Times New Roman"/>
              <a:sym typeface="Times New Roman"/>
            </a:endParaRPr>
          </a:p>
          <a:p>
            <a:pPr indent="-234950" lvl="0" marL="228600" rtl="0" algn="l">
              <a:lnSpc>
                <a:spcPct val="90000"/>
              </a:lnSpc>
              <a:spcBef>
                <a:spcPts val="0"/>
              </a:spcBef>
              <a:spcAft>
                <a:spcPts val="0"/>
              </a:spcAft>
              <a:buClr>
                <a:schemeClr val="dk1"/>
              </a:buClr>
              <a:buSzPts val="3500"/>
              <a:buFont typeface="Times New Roman"/>
              <a:buChar char="●"/>
            </a:pPr>
            <a:r>
              <a:rPr lang="en-US" sz="1800">
                <a:latin typeface="Times New Roman"/>
                <a:ea typeface="Times New Roman"/>
                <a:cs typeface="Times New Roman"/>
                <a:sym typeface="Times New Roman"/>
              </a:rPr>
              <a:t>4. Feature Engineering</a:t>
            </a:r>
            <a:endParaRPr sz="1800">
              <a:latin typeface="Times New Roman"/>
              <a:ea typeface="Times New Roman"/>
              <a:cs typeface="Times New Roman"/>
              <a:sym typeface="Times New Roman"/>
            </a:endParaRPr>
          </a:p>
          <a:p>
            <a:pPr indent="-234950" lvl="0" marL="228600" rtl="0" algn="l">
              <a:lnSpc>
                <a:spcPct val="90000"/>
              </a:lnSpc>
              <a:spcBef>
                <a:spcPts val="0"/>
              </a:spcBef>
              <a:spcAft>
                <a:spcPts val="0"/>
              </a:spcAft>
              <a:buClr>
                <a:schemeClr val="dk1"/>
              </a:buClr>
              <a:buSzPts val="3500"/>
              <a:buFont typeface="Times New Roman"/>
              <a:buChar char="●"/>
            </a:pPr>
            <a:r>
              <a:rPr lang="en-US" sz="1800">
                <a:latin typeface="Times New Roman"/>
                <a:ea typeface="Times New Roman"/>
                <a:cs typeface="Times New Roman"/>
                <a:sym typeface="Times New Roman"/>
              </a:rPr>
              <a:t>5. Performing EDA to answer specific Objectives:</a:t>
            </a:r>
            <a:endParaRPr sz="18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E3E3E3"/>
              </a:buClr>
              <a:buSzPts val="1400"/>
              <a:buFont typeface="Times New Roman"/>
              <a:buChar char="●"/>
            </a:pPr>
            <a:r>
              <a:rPr b="1" lang="en-US" sz="1400">
                <a:solidFill>
                  <a:srgbClr val="E3E3E3"/>
                </a:solidFill>
                <a:highlight>
                  <a:schemeClr val="dk1"/>
                </a:highlight>
                <a:latin typeface="Times New Roman"/>
                <a:ea typeface="Times New Roman"/>
                <a:cs typeface="Times New Roman"/>
                <a:sym typeface="Times New Roman"/>
              </a:rPr>
              <a:t>Identify the most financially successful movie genres</a:t>
            </a:r>
            <a:endParaRPr sz="1400">
              <a:solidFill>
                <a:srgbClr val="E3E3E3"/>
              </a:solidFill>
              <a:highlight>
                <a:schemeClr val="dk1"/>
              </a:highlight>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E3E3E3"/>
              </a:buClr>
              <a:buSzPts val="1400"/>
              <a:buFont typeface="Times New Roman"/>
              <a:buChar char="●"/>
            </a:pPr>
            <a:r>
              <a:rPr b="1" lang="en-US" sz="1400">
                <a:solidFill>
                  <a:srgbClr val="E3E3E3"/>
                </a:solidFill>
                <a:highlight>
                  <a:schemeClr val="dk1"/>
                </a:highlight>
                <a:latin typeface="Times New Roman"/>
                <a:ea typeface="Times New Roman"/>
                <a:cs typeface="Times New Roman"/>
                <a:sym typeface="Times New Roman"/>
              </a:rPr>
              <a:t>Analyze the impact of ratings/votes on financial success</a:t>
            </a:r>
            <a:endParaRPr sz="1400">
              <a:solidFill>
                <a:srgbClr val="E3E3E3"/>
              </a:solidFill>
              <a:highlight>
                <a:schemeClr val="dk1"/>
              </a:highlight>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E3E3E3"/>
              </a:buClr>
              <a:buSzPts val="1400"/>
              <a:buFont typeface="Times New Roman"/>
              <a:buChar char="●"/>
            </a:pPr>
            <a:r>
              <a:rPr b="1" lang="en-US" sz="1400">
                <a:solidFill>
                  <a:srgbClr val="E3E3E3"/>
                </a:solidFill>
                <a:highlight>
                  <a:schemeClr val="dk1"/>
                </a:highlight>
                <a:latin typeface="Times New Roman"/>
                <a:ea typeface="Times New Roman"/>
                <a:cs typeface="Times New Roman"/>
                <a:sym typeface="Times New Roman"/>
              </a:rPr>
              <a:t>Examine the performance of existing studios</a:t>
            </a:r>
            <a:endParaRPr sz="1400">
              <a:solidFill>
                <a:srgbClr val="E3E3E3"/>
              </a:solidFill>
              <a:highlight>
                <a:schemeClr val="dk1"/>
              </a:highlight>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E3E3E3"/>
              </a:buClr>
              <a:buSzPts val="1400"/>
              <a:buFont typeface="Times New Roman"/>
              <a:buChar char="●"/>
            </a:pPr>
            <a:r>
              <a:rPr b="1" lang="en-US" sz="1400">
                <a:solidFill>
                  <a:srgbClr val="E3E3E3"/>
                </a:solidFill>
                <a:highlight>
                  <a:schemeClr val="dk1"/>
                </a:highlight>
                <a:latin typeface="Times New Roman"/>
                <a:ea typeface="Times New Roman"/>
                <a:cs typeface="Times New Roman"/>
                <a:sym typeface="Times New Roman"/>
              </a:rPr>
              <a:t>Explore trends in movie performance</a:t>
            </a:r>
            <a:endParaRPr sz="2000">
              <a:highlight>
                <a:schemeClr val="dk1"/>
              </a:highlight>
              <a:latin typeface="Times New Roman"/>
              <a:ea typeface="Times New Roman"/>
              <a:cs typeface="Times New Roman"/>
              <a:sym typeface="Times New Roman"/>
            </a:endParaRPr>
          </a:p>
          <a:p>
            <a:pPr indent="-234950" lvl="0" marL="228600" rtl="0" algn="l">
              <a:lnSpc>
                <a:spcPct val="90000"/>
              </a:lnSpc>
              <a:spcBef>
                <a:spcPts val="0"/>
              </a:spcBef>
              <a:spcAft>
                <a:spcPts val="0"/>
              </a:spcAft>
              <a:buClr>
                <a:schemeClr val="dk1"/>
              </a:buClr>
              <a:buSzPts val="3500"/>
              <a:buFont typeface="Times New Roman"/>
              <a:buChar char="●"/>
            </a:pPr>
            <a:r>
              <a:rPr lang="en-US" sz="1800">
                <a:latin typeface="Times New Roman"/>
                <a:ea typeface="Times New Roman"/>
                <a:cs typeface="Times New Roman"/>
                <a:sym typeface="Times New Roman"/>
              </a:rPr>
              <a:t>6. Summary and Conclusion</a:t>
            </a:r>
            <a:endParaRPr sz="1800">
              <a:latin typeface="Times New Roman"/>
              <a:ea typeface="Times New Roman"/>
              <a:cs typeface="Times New Roman"/>
              <a:sym typeface="Times New Roman"/>
            </a:endParaRPr>
          </a:p>
          <a:p>
            <a:pPr indent="-234950" lvl="0" marL="228600" rtl="0" algn="l">
              <a:lnSpc>
                <a:spcPct val="90000"/>
              </a:lnSpc>
              <a:spcBef>
                <a:spcPts val="0"/>
              </a:spcBef>
              <a:spcAft>
                <a:spcPts val="0"/>
              </a:spcAft>
              <a:buClr>
                <a:schemeClr val="dk1"/>
              </a:buClr>
              <a:buSzPts val="3500"/>
              <a:buFont typeface="Times New Roman"/>
              <a:buChar char="●"/>
            </a:pPr>
            <a:r>
              <a:rPr lang="en-US" sz="1800">
                <a:latin typeface="Times New Roman"/>
                <a:ea typeface="Times New Roman"/>
                <a:cs typeface="Times New Roman"/>
                <a:sym typeface="Times New Roman"/>
              </a:rPr>
              <a:t>7. Data Relevance</a:t>
            </a:r>
            <a:endParaRPr sz="1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c64058ab61_0_37"/>
          <p:cNvSpPr txBox="1"/>
          <p:nvPr>
            <p:ph type="title"/>
          </p:nvPr>
        </p:nvSpPr>
        <p:spPr>
          <a:xfrm>
            <a:off x="1730000" y="525000"/>
            <a:ext cx="9385200" cy="2170800"/>
          </a:xfrm>
          <a:prstGeom prst="rect">
            <a:avLst/>
          </a:prstGeom>
          <a:noFill/>
          <a:ln>
            <a:noFill/>
          </a:ln>
        </p:spPr>
        <p:txBody>
          <a:bodyPr anchorCtr="0" anchor="t" bIns="121900" lIns="121900" spcFirstLastPara="1" rIns="121900" wrap="square" tIns="121900">
            <a:normAutofit/>
          </a:bodyPr>
          <a:lstStyle/>
          <a:p>
            <a:pPr indent="0" lvl="0" marL="0" rtl="0" algn="ctr">
              <a:lnSpc>
                <a:spcPct val="100000"/>
              </a:lnSpc>
              <a:spcBef>
                <a:spcPts val="0"/>
              </a:spcBef>
              <a:spcAft>
                <a:spcPts val="0"/>
              </a:spcAft>
              <a:buSzPts val="3200"/>
              <a:buNone/>
            </a:pPr>
            <a:r>
              <a:rPr lang="en-US" sz="8900"/>
              <a:t>Analysis</a:t>
            </a:r>
            <a:endParaRPr sz="8900"/>
          </a:p>
        </p:txBody>
      </p:sp>
      <p:sp>
        <p:nvSpPr>
          <p:cNvPr id="166" name="Google Shape;166;gc64058ab61_0_37"/>
          <p:cNvSpPr txBox="1"/>
          <p:nvPr>
            <p:ph idx="1" type="body"/>
          </p:nvPr>
        </p:nvSpPr>
        <p:spPr>
          <a:xfrm>
            <a:off x="1730000" y="2962426"/>
            <a:ext cx="9385200" cy="30093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1700"/>
              <a:buNone/>
            </a:pPr>
            <a:r>
              <a:rPr lang="en-US" sz="3000">
                <a:solidFill>
                  <a:srgbClr val="FFFFFF"/>
                </a:solidFill>
                <a:latin typeface="Times New Roman"/>
                <a:ea typeface="Times New Roman"/>
                <a:cs typeface="Times New Roman"/>
                <a:sym typeface="Times New Roman"/>
              </a:rPr>
              <a:t>A Detailed analysis can be found on the following github repository hosting the data as well as Google Colab notebook: </a:t>
            </a:r>
            <a:r>
              <a:rPr lang="en-US" sz="3000" u="sng">
                <a:solidFill>
                  <a:schemeClr val="hlink"/>
                </a:solidFill>
                <a:latin typeface="Times New Roman"/>
                <a:ea typeface="Times New Roman"/>
                <a:cs typeface="Times New Roman"/>
                <a:sym typeface="Times New Roman"/>
                <a:hlinkClick r:id="rId3"/>
              </a:rPr>
              <a:t>https://github.com/NjorogeWinnie/IMDB-Movie-Data-Analysis/tree/main</a:t>
            </a:r>
            <a:r>
              <a:rPr lang="en-US" sz="3000">
                <a:solidFill>
                  <a:srgbClr val="FFFFFF"/>
                </a:solidFill>
                <a:latin typeface="Times New Roman"/>
                <a:ea typeface="Times New Roman"/>
                <a:cs typeface="Times New Roman"/>
                <a:sym typeface="Times New Roman"/>
              </a:rPr>
              <a:t> </a:t>
            </a:r>
            <a:endParaRPr sz="30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c64058ab61_0_0"/>
          <p:cNvSpPr txBox="1"/>
          <p:nvPr>
            <p:ph type="title"/>
          </p:nvPr>
        </p:nvSpPr>
        <p:spPr>
          <a:xfrm>
            <a:off x="838200" y="271425"/>
            <a:ext cx="10515600" cy="832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M</a:t>
            </a:r>
            <a:r>
              <a:rPr lang="en-US"/>
              <a:t>ost financially successful movie genres</a:t>
            </a:r>
            <a:endParaRPr/>
          </a:p>
        </p:txBody>
      </p:sp>
      <p:sp>
        <p:nvSpPr>
          <p:cNvPr id="172" name="Google Shape;172;gc64058ab61_0_0"/>
          <p:cNvSpPr txBox="1"/>
          <p:nvPr>
            <p:ph idx="1" type="body"/>
          </p:nvPr>
        </p:nvSpPr>
        <p:spPr>
          <a:xfrm>
            <a:off x="901525" y="5989450"/>
            <a:ext cx="9349200" cy="778200"/>
          </a:xfrm>
          <a:prstGeom prst="rect">
            <a:avLst/>
          </a:prstGeom>
          <a:noFill/>
          <a:ln>
            <a:noFill/>
          </a:ln>
        </p:spPr>
        <p:txBody>
          <a:bodyPr anchorCtr="0" anchor="t" bIns="45700" lIns="91425" spcFirstLastPara="1" rIns="91425" wrap="square" tIns="45700">
            <a:normAutofit/>
          </a:bodyPr>
          <a:lstStyle/>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Based on this piechart, we can see that drama, comedy and action are the most prevalent genres in this dataset.</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However, to make these findings actionable for Microsoft,</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let us investigate if the prevalence of a genre correlates with its success.</a:t>
            </a:r>
            <a:endParaRPr sz="1050">
              <a:solidFill>
                <a:srgbClr val="D4D4D4"/>
              </a:solidFill>
              <a:highlight>
                <a:srgbClr val="1E1E1E"/>
              </a:highlight>
              <a:latin typeface="Courier New"/>
              <a:ea typeface="Courier New"/>
              <a:cs typeface="Courier New"/>
              <a:sym typeface="Courier New"/>
            </a:endParaRPr>
          </a:p>
        </p:txBody>
      </p:sp>
      <p:pic>
        <p:nvPicPr>
          <p:cNvPr id="173" name="Google Shape;173;gc64058ab61_0_0"/>
          <p:cNvPicPr preferRelativeResize="0"/>
          <p:nvPr/>
        </p:nvPicPr>
        <p:blipFill>
          <a:blip r:embed="rId3">
            <a:alphaModFix/>
          </a:blip>
          <a:stretch>
            <a:fillRect/>
          </a:stretch>
        </p:blipFill>
        <p:spPr>
          <a:xfrm>
            <a:off x="3396225" y="1103925"/>
            <a:ext cx="5881050" cy="4711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c64058ab61_0_8"/>
          <p:cNvSpPr txBox="1"/>
          <p:nvPr>
            <p:ph type="title"/>
          </p:nvPr>
        </p:nvSpPr>
        <p:spPr>
          <a:xfrm>
            <a:off x="1664800" y="137550"/>
            <a:ext cx="9323100" cy="7671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90000"/>
              </a:lnSpc>
              <a:spcBef>
                <a:spcPts val="0"/>
              </a:spcBef>
              <a:spcAft>
                <a:spcPts val="0"/>
              </a:spcAft>
              <a:buClr>
                <a:srgbClr val="000000"/>
              </a:buClr>
              <a:buSzPct val="48648"/>
              <a:buFont typeface="Arial"/>
              <a:buNone/>
            </a:pPr>
            <a:r>
              <a:rPr lang="en-US" sz="3700"/>
              <a:t>Most financially successful movie genres</a:t>
            </a:r>
            <a:endParaRPr sz="3700"/>
          </a:p>
          <a:p>
            <a:pPr indent="0" lvl="0" marL="0" rtl="0" algn="l">
              <a:lnSpc>
                <a:spcPct val="100000"/>
              </a:lnSpc>
              <a:spcBef>
                <a:spcPts val="0"/>
              </a:spcBef>
              <a:spcAft>
                <a:spcPts val="0"/>
              </a:spcAft>
              <a:buSzPct val="111111"/>
              <a:buNone/>
            </a:pPr>
            <a:r>
              <a:t/>
            </a:r>
            <a:endParaRPr/>
          </a:p>
        </p:txBody>
      </p:sp>
      <p:sp>
        <p:nvSpPr>
          <p:cNvPr id="179" name="Google Shape;179;gc64058ab61_0_8"/>
          <p:cNvSpPr txBox="1"/>
          <p:nvPr>
            <p:ph idx="1" type="body"/>
          </p:nvPr>
        </p:nvSpPr>
        <p:spPr>
          <a:xfrm>
            <a:off x="415200" y="5663100"/>
            <a:ext cx="11361600" cy="1003800"/>
          </a:xfrm>
          <a:prstGeom prst="rect">
            <a:avLst/>
          </a:prstGeom>
          <a:noFill/>
          <a:ln>
            <a:noFill/>
          </a:ln>
        </p:spPr>
        <p:txBody>
          <a:bodyPr anchorCtr="0" anchor="t" bIns="121900" lIns="121900" spcFirstLastPara="1" rIns="121900" wrap="square" tIns="121900">
            <a:normAutofit fontScale="77500" lnSpcReduction="10000"/>
          </a:bodyPr>
          <a:lstStyle/>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The top performing genres are Adventure, Sci-fi and Animations. This suggests that movies in these genres tend to earn significantly more at the box office compared to others in the dataset. Comparing this to the pie chart earlier, where Drama and Comedy are the most prevalent genres in the dataset, their median total gross is considerably lower than the top-performing genres. This indicates that while many movies are made in these genres, their typical financial return is not as high as that of genres like Adventure or Sci-Fi.</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Action movies are also prevalent and show a moderate median total gross, placing them below the top three but still higher than many other genres.</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From these insights drawn from the analysis above, we would advise Microsoft to focus on Adventure, Sci-Fi and Animated Movies to maximize their financial success.</a:t>
            </a:r>
            <a:endParaRPr sz="1125">
              <a:latin typeface="Times New Roman"/>
              <a:ea typeface="Times New Roman"/>
              <a:cs typeface="Times New Roman"/>
              <a:sym typeface="Times New Roman"/>
            </a:endParaRPr>
          </a:p>
        </p:txBody>
      </p:sp>
      <p:pic>
        <p:nvPicPr>
          <p:cNvPr id="180" name="Google Shape;180;gc64058ab61_0_8"/>
          <p:cNvPicPr preferRelativeResize="0"/>
          <p:nvPr/>
        </p:nvPicPr>
        <p:blipFill>
          <a:blip r:embed="rId3">
            <a:alphaModFix/>
          </a:blip>
          <a:stretch>
            <a:fillRect/>
          </a:stretch>
        </p:blipFill>
        <p:spPr>
          <a:xfrm>
            <a:off x="2239125" y="824900"/>
            <a:ext cx="8174461" cy="4743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729fdd57bb_1_15"/>
          <p:cNvSpPr txBox="1"/>
          <p:nvPr>
            <p:ph type="title"/>
          </p:nvPr>
        </p:nvSpPr>
        <p:spPr>
          <a:xfrm>
            <a:off x="1730000" y="208100"/>
            <a:ext cx="9385200" cy="8937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35714"/>
              </a:lnSpc>
              <a:spcBef>
                <a:spcPts val="0"/>
              </a:spcBef>
              <a:spcAft>
                <a:spcPts val="0"/>
              </a:spcAft>
              <a:buNone/>
            </a:pPr>
            <a:r>
              <a:t/>
            </a:r>
            <a:endParaRPr sz="1050">
              <a:solidFill>
                <a:srgbClr val="82B76C"/>
              </a:solidFill>
              <a:highlight>
                <a:srgbClr val="1E1E1E"/>
              </a:highlight>
              <a:latin typeface="Courier New"/>
              <a:ea typeface="Courier New"/>
              <a:cs typeface="Courier New"/>
              <a:sym typeface="Courier New"/>
            </a:endParaRPr>
          </a:p>
          <a:p>
            <a:pPr indent="0" lvl="0" marL="0" rtl="0" algn="l">
              <a:lnSpc>
                <a:spcPct val="100000"/>
              </a:lnSpc>
              <a:spcBef>
                <a:spcPts val="0"/>
              </a:spcBef>
              <a:spcAft>
                <a:spcPts val="0"/>
              </a:spcAft>
              <a:buSzPct val="111111"/>
              <a:buNone/>
            </a:pPr>
            <a:r>
              <a:rPr lang="en-US"/>
              <a:t>Impact of Ratings </a:t>
            </a:r>
            <a:r>
              <a:rPr lang="en-US"/>
              <a:t>on f</a:t>
            </a:r>
            <a:r>
              <a:rPr lang="en-US"/>
              <a:t>inancial success</a:t>
            </a:r>
            <a:endParaRPr/>
          </a:p>
        </p:txBody>
      </p:sp>
      <p:sp>
        <p:nvSpPr>
          <p:cNvPr id="186" name="Google Shape;186;g3729fdd57bb_1_15"/>
          <p:cNvSpPr txBox="1"/>
          <p:nvPr>
            <p:ph idx="1" type="body"/>
          </p:nvPr>
        </p:nvSpPr>
        <p:spPr>
          <a:xfrm>
            <a:off x="288100" y="5437550"/>
            <a:ext cx="11509800" cy="12969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There is a weak positive trend between Ratings and Total gross. There are high grossing movies with high ratings, while there are high grossing movies with average or below average ratings.</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Conversely, there are movies with high ratings that did not achieve very high total gross.</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This confirms that a high average rating does not guarantee high box office success, and many successful movies are not necessarily the most critically acclaimed</a:t>
            </a:r>
            <a:endParaRPr sz="1050">
              <a:solidFill>
                <a:srgbClr val="D4D4D4"/>
              </a:solidFill>
              <a:highlight>
                <a:srgbClr val="1E1E1E"/>
              </a:highlight>
              <a:latin typeface="Courier New"/>
              <a:ea typeface="Courier New"/>
              <a:cs typeface="Courier New"/>
              <a:sym typeface="Courier New"/>
            </a:endParaRPr>
          </a:p>
          <a:p>
            <a:pPr indent="0" lvl="0" marL="0" rtl="0" algn="l">
              <a:lnSpc>
                <a:spcPct val="95000"/>
              </a:lnSpc>
              <a:spcBef>
                <a:spcPts val="0"/>
              </a:spcBef>
              <a:spcAft>
                <a:spcPts val="1600"/>
              </a:spcAft>
              <a:buSzPct val="35416"/>
              <a:buNone/>
            </a:pPr>
            <a:r>
              <a:t/>
            </a:r>
            <a:endParaRPr sz="1200">
              <a:solidFill>
                <a:srgbClr val="E3E3E3"/>
              </a:solidFill>
              <a:highlight>
                <a:schemeClr val="dk1"/>
              </a:highlight>
              <a:latin typeface="Times New Roman"/>
              <a:ea typeface="Times New Roman"/>
              <a:cs typeface="Times New Roman"/>
              <a:sym typeface="Times New Roman"/>
            </a:endParaRPr>
          </a:p>
        </p:txBody>
      </p:sp>
      <p:pic>
        <p:nvPicPr>
          <p:cNvPr id="187" name="Google Shape;187;g3729fdd57bb_1_15"/>
          <p:cNvPicPr preferRelativeResize="0"/>
          <p:nvPr/>
        </p:nvPicPr>
        <p:blipFill>
          <a:blip r:embed="rId3">
            <a:alphaModFix/>
          </a:blip>
          <a:stretch>
            <a:fillRect/>
          </a:stretch>
        </p:blipFill>
        <p:spPr>
          <a:xfrm>
            <a:off x="2978825" y="1254200"/>
            <a:ext cx="6234339" cy="4030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c64058ab61_0_13"/>
          <p:cNvSpPr txBox="1"/>
          <p:nvPr>
            <p:ph type="title"/>
          </p:nvPr>
        </p:nvSpPr>
        <p:spPr>
          <a:xfrm>
            <a:off x="1311875" y="365125"/>
            <a:ext cx="8097600" cy="719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35714"/>
              </a:lnSpc>
              <a:spcBef>
                <a:spcPts val="0"/>
              </a:spcBef>
              <a:spcAft>
                <a:spcPts val="0"/>
              </a:spcAft>
              <a:buNone/>
            </a:pPr>
            <a:r>
              <a:t/>
            </a:r>
            <a:endParaRPr sz="1050">
              <a:solidFill>
                <a:srgbClr val="82B76C"/>
              </a:solidFill>
              <a:highlight>
                <a:srgbClr val="1E1E1E"/>
              </a:highlight>
              <a:latin typeface="Courier New"/>
              <a:ea typeface="Courier New"/>
              <a:cs typeface="Courier New"/>
              <a:sym typeface="Courier New"/>
            </a:endParaRPr>
          </a:p>
          <a:p>
            <a:pPr indent="0" lvl="0" marL="0" rtl="0" algn="l">
              <a:lnSpc>
                <a:spcPct val="100000"/>
              </a:lnSpc>
              <a:spcBef>
                <a:spcPts val="0"/>
              </a:spcBef>
              <a:spcAft>
                <a:spcPts val="0"/>
              </a:spcAft>
              <a:buClr>
                <a:srgbClr val="000000"/>
              </a:buClr>
              <a:buSzPct val="111111"/>
              <a:buFont typeface="Arial"/>
              <a:buNone/>
            </a:pPr>
            <a:r>
              <a:rPr lang="en-US" sz="3200"/>
              <a:t>Impact of Votes on financial success</a:t>
            </a:r>
            <a:endParaRPr sz="3200"/>
          </a:p>
          <a:p>
            <a:pPr indent="0" lvl="0" marL="0" rtl="0" algn="l">
              <a:lnSpc>
                <a:spcPct val="90000"/>
              </a:lnSpc>
              <a:spcBef>
                <a:spcPts val="0"/>
              </a:spcBef>
              <a:spcAft>
                <a:spcPts val="0"/>
              </a:spcAft>
              <a:buSzPct val="48648"/>
              <a:buNone/>
            </a:pPr>
            <a:r>
              <a:t/>
            </a:r>
            <a:endParaRPr/>
          </a:p>
        </p:txBody>
      </p:sp>
      <p:sp>
        <p:nvSpPr>
          <p:cNvPr id="193" name="Google Shape;193;gc64058ab61_0_13"/>
          <p:cNvSpPr txBox="1"/>
          <p:nvPr>
            <p:ph idx="1" type="body"/>
          </p:nvPr>
        </p:nvSpPr>
        <p:spPr>
          <a:xfrm>
            <a:off x="479525" y="5273825"/>
            <a:ext cx="11653200" cy="1199700"/>
          </a:xfrm>
          <a:prstGeom prst="rect">
            <a:avLst/>
          </a:prstGeom>
          <a:noFill/>
          <a:ln>
            <a:noFill/>
          </a:ln>
        </p:spPr>
        <p:txBody>
          <a:bodyPr anchorCtr="0" anchor="t" bIns="45700" lIns="91425" spcFirstLastPara="1" rIns="91425" wrap="square" tIns="45700">
            <a:normAutofit fontScale="47500" lnSpcReduction="10000"/>
          </a:bodyPr>
          <a:lstStyle/>
          <a:p>
            <a:pPr indent="0" lvl="0" marL="0" rtl="0" algn="l">
              <a:lnSpc>
                <a:spcPct val="135714"/>
              </a:lnSpc>
              <a:spcBef>
                <a:spcPts val="0"/>
              </a:spcBef>
              <a:spcAft>
                <a:spcPts val="0"/>
              </a:spcAft>
              <a:buNone/>
            </a:pPr>
            <a:r>
              <a:rPr lang="en-US" sz="1991">
                <a:solidFill>
                  <a:srgbClr val="D4D4D4"/>
                </a:solidFill>
                <a:highlight>
                  <a:srgbClr val="1E1E1E"/>
                </a:highlight>
                <a:latin typeface="Courier New"/>
                <a:ea typeface="Courier New"/>
                <a:cs typeface="Courier New"/>
                <a:sym typeface="Courier New"/>
              </a:rPr>
              <a:t>The scatter plot above, shows a clearer positive trend than the rating vs. gross plot. As the number of votes increases, the total gross tends to increase.</a:t>
            </a:r>
            <a:endParaRPr sz="1991">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991">
                <a:solidFill>
                  <a:srgbClr val="D4D4D4"/>
                </a:solidFill>
                <a:highlight>
                  <a:srgbClr val="1E1E1E"/>
                </a:highlight>
                <a:latin typeface="Courier New"/>
                <a:ea typeface="Courier New"/>
                <a:cs typeface="Courier New"/>
                <a:sym typeface="Courier New"/>
              </a:rPr>
              <a:t>There is a visible cluster of movies with lower votes and lower gross, and as you move to higher vote counts, the potential for higher total gross generally increases.</a:t>
            </a:r>
            <a:endParaRPr sz="1991">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991">
                <a:solidFill>
                  <a:srgbClr val="D4D4D4"/>
                </a:solidFill>
                <a:highlight>
                  <a:srgbClr val="1E1E1E"/>
                </a:highlight>
                <a:latin typeface="Courier New"/>
                <a:ea typeface="Courier New"/>
                <a:cs typeface="Courier New"/>
                <a:sym typeface="Courier New"/>
              </a:rPr>
              <a:t>This suggests that movies that generate more audience engagement (indicated by a higher number of votes) are more likely to achieve higher box office revenues.</a:t>
            </a:r>
            <a:endParaRPr sz="1991">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991">
                <a:solidFill>
                  <a:srgbClr val="D4D4D4"/>
                </a:solidFill>
                <a:highlight>
                  <a:srgbClr val="1E1E1E"/>
                </a:highlight>
                <a:latin typeface="Courier New"/>
                <a:ea typeface="Courier New"/>
                <a:cs typeface="Courier New"/>
                <a:sym typeface="Courier New"/>
              </a:rPr>
              <a:t>The number of votes appears to be a better indicator of potential financial success than the average rating.</a:t>
            </a:r>
            <a:endParaRPr sz="1991">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2181">
                <a:solidFill>
                  <a:srgbClr val="D4D4D4"/>
                </a:solidFill>
                <a:highlight>
                  <a:srgbClr val="1E1E1E"/>
                </a:highlight>
                <a:latin typeface="Courier New"/>
                <a:ea typeface="Courier New"/>
                <a:cs typeface="Courier New"/>
                <a:sym typeface="Courier New"/>
              </a:rPr>
              <a:t>From the above analysis, we can advise microsoft that audience engagement matters more for Revenue.</a:t>
            </a:r>
            <a:endParaRPr sz="1991">
              <a:solidFill>
                <a:srgbClr val="D4D4D4"/>
              </a:solidFill>
              <a:highlight>
                <a:srgbClr val="1E1E1E"/>
              </a:highlight>
              <a:latin typeface="Courier New"/>
              <a:ea typeface="Courier New"/>
              <a:cs typeface="Courier New"/>
              <a:sym typeface="Courier New"/>
            </a:endParaRPr>
          </a:p>
        </p:txBody>
      </p:sp>
      <p:pic>
        <p:nvPicPr>
          <p:cNvPr id="194" name="Google Shape;194;gc64058ab61_0_13"/>
          <p:cNvPicPr preferRelativeResize="0"/>
          <p:nvPr/>
        </p:nvPicPr>
        <p:blipFill>
          <a:blip r:embed="rId3">
            <a:alphaModFix/>
          </a:blip>
          <a:stretch>
            <a:fillRect/>
          </a:stretch>
        </p:blipFill>
        <p:spPr>
          <a:xfrm>
            <a:off x="2880125" y="927400"/>
            <a:ext cx="6203699" cy="42496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c64058ab61_0_18"/>
          <p:cNvSpPr txBox="1"/>
          <p:nvPr>
            <p:ph type="title"/>
          </p:nvPr>
        </p:nvSpPr>
        <p:spPr>
          <a:xfrm>
            <a:off x="875425" y="379925"/>
            <a:ext cx="10515600" cy="615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P</a:t>
            </a:r>
            <a:r>
              <a:rPr lang="en-US"/>
              <a:t>erformance of existing studios</a:t>
            </a:r>
            <a:endParaRPr/>
          </a:p>
        </p:txBody>
      </p:sp>
      <p:sp>
        <p:nvSpPr>
          <p:cNvPr id="200" name="Google Shape;200;gc64058ab61_0_18"/>
          <p:cNvSpPr txBox="1"/>
          <p:nvPr>
            <p:ph idx="1" type="body"/>
          </p:nvPr>
        </p:nvSpPr>
        <p:spPr>
          <a:xfrm>
            <a:off x="838200" y="5817350"/>
            <a:ext cx="10515600" cy="615300"/>
          </a:xfrm>
          <a:prstGeom prst="rect">
            <a:avLst/>
          </a:prstGeom>
          <a:noFill/>
          <a:ln>
            <a:noFill/>
          </a:ln>
        </p:spPr>
        <p:txBody>
          <a:bodyPr anchorCtr="0" anchor="t" bIns="45700" lIns="91425" spcFirstLastPara="1" rIns="91425" wrap="square" tIns="45700">
            <a:noAutofit/>
          </a:bodyPr>
          <a:lstStyle/>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The bar plot clearly highlights the studios with the highest median total gross revenue. These are the studios whose typical movies tend to earn the most globally. Based on the output, studios like HC, P/DW, and BV appear to have the highest median total gross.</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650">
              <a:solidFill>
                <a:srgbClr val="D4D4D4"/>
              </a:solidFill>
              <a:highlight>
                <a:srgbClr val="1E1E1E"/>
              </a:highlight>
              <a:latin typeface="Times New Roman"/>
              <a:ea typeface="Times New Roman"/>
              <a:cs typeface="Times New Roman"/>
              <a:sym typeface="Times New Roman"/>
            </a:endParaRPr>
          </a:p>
        </p:txBody>
      </p:sp>
      <p:pic>
        <p:nvPicPr>
          <p:cNvPr id="201" name="Google Shape;201;gc64058ab61_0_18"/>
          <p:cNvPicPr preferRelativeResize="0"/>
          <p:nvPr/>
        </p:nvPicPr>
        <p:blipFill>
          <a:blip r:embed="rId3">
            <a:alphaModFix/>
          </a:blip>
          <a:stretch>
            <a:fillRect/>
          </a:stretch>
        </p:blipFill>
        <p:spPr>
          <a:xfrm>
            <a:off x="1090675" y="995225"/>
            <a:ext cx="9411326" cy="4675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729fdd57bb_1_36"/>
          <p:cNvSpPr txBox="1"/>
          <p:nvPr>
            <p:ph type="title"/>
          </p:nvPr>
        </p:nvSpPr>
        <p:spPr>
          <a:xfrm>
            <a:off x="875425" y="379925"/>
            <a:ext cx="10515600" cy="6153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800"/>
              <a:buNone/>
            </a:pPr>
            <a:r>
              <a:rPr lang="en-US"/>
              <a:t>Performance of existing studios</a:t>
            </a:r>
            <a:endParaRPr/>
          </a:p>
        </p:txBody>
      </p:sp>
      <p:sp>
        <p:nvSpPr>
          <p:cNvPr id="207" name="Google Shape;207;g3729fdd57bb_1_36"/>
          <p:cNvSpPr txBox="1"/>
          <p:nvPr>
            <p:ph idx="1" type="body"/>
          </p:nvPr>
        </p:nvSpPr>
        <p:spPr>
          <a:xfrm>
            <a:off x="190000" y="5265650"/>
            <a:ext cx="11888400" cy="15381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Studios like BV, P/DW, and Fox appear to have relatively high median domestic gross.This suggests that their typical movies perform well in the domestic market.</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HC, P/DW, and BV stand out with very high median foreign gross. This suggests their typical movies are particularly successful in international markets.</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This analysis provides insights into the competitive landscape of movie studios which helps Microsoft understand:</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82C6FF"/>
                </a:solidFill>
                <a:highlight>
                  <a:srgbClr val="1E1E1E"/>
                </a:highlight>
                <a:latin typeface="Courier New"/>
                <a:ea typeface="Courier New"/>
                <a:cs typeface="Courier New"/>
                <a:sym typeface="Courier New"/>
              </a:rPr>
              <a:t>1. </a:t>
            </a:r>
            <a:r>
              <a:rPr lang="en-US" sz="1050">
                <a:solidFill>
                  <a:srgbClr val="D4D4D4"/>
                </a:solidFill>
                <a:highlight>
                  <a:srgbClr val="1E1E1E"/>
                </a:highlight>
                <a:latin typeface="Courier New"/>
                <a:ea typeface="Courier New"/>
                <a:cs typeface="Courier New"/>
                <a:sym typeface="Courier New"/>
              </a:rPr>
              <a:t>  The most financially successful existing studios based on their median gross</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82C6FF"/>
                </a:solidFill>
                <a:highlight>
                  <a:srgbClr val="1E1E1E"/>
                </a:highlight>
                <a:latin typeface="Courier New"/>
                <a:ea typeface="Courier New"/>
                <a:cs typeface="Courier New"/>
                <a:sym typeface="Courier New"/>
              </a:rPr>
              <a:t>2. </a:t>
            </a:r>
            <a:r>
              <a:rPr lang="en-US" sz="1050">
                <a:solidFill>
                  <a:srgbClr val="D4D4D4"/>
                </a:solidFill>
                <a:highlight>
                  <a:srgbClr val="1E1E1E"/>
                </a:highlight>
                <a:latin typeface="Courier New"/>
                <a:ea typeface="Courier New"/>
                <a:cs typeface="Courier New"/>
                <a:sym typeface="Courier New"/>
              </a:rPr>
              <a:t> The range and variability of earnings for movies produced by these top studios.</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82C6FF"/>
                </a:solidFill>
                <a:highlight>
                  <a:srgbClr val="1E1E1E"/>
                </a:highlight>
                <a:latin typeface="Courier New"/>
                <a:ea typeface="Courier New"/>
                <a:cs typeface="Courier New"/>
                <a:sym typeface="Courier New"/>
              </a:rPr>
              <a:t>3. </a:t>
            </a:r>
            <a:r>
              <a:rPr lang="en-US" sz="1050">
                <a:solidFill>
                  <a:srgbClr val="D4D4D4"/>
                </a:solidFill>
                <a:highlight>
                  <a:srgbClr val="1E1E1E"/>
                </a:highlight>
                <a:latin typeface="Courier New"/>
                <a:ea typeface="Courier New"/>
                <a:cs typeface="Courier New"/>
                <a:sym typeface="Courier New"/>
              </a:rPr>
              <a:t>How certain studios excel in domestic and foreign markets, or in producing</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consistent earners versus high-risk/high-reward blockbusters.</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This information is useful to Microsoft's strategy regarding potential partnerships, talent acquisition, or the types of films they might aim to produce based on the performance patterns of established studios.</a:t>
            </a:r>
            <a:endParaRPr sz="1150">
              <a:solidFill>
                <a:srgbClr val="D4D4D4"/>
              </a:solidFill>
              <a:highlight>
                <a:srgbClr val="1E1E1E"/>
              </a:highlight>
              <a:latin typeface="Times New Roman"/>
              <a:ea typeface="Times New Roman"/>
              <a:cs typeface="Times New Roman"/>
              <a:sym typeface="Times New Roman"/>
            </a:endParaRPr>
          </a:p>
        </p:txBody>
      </p:sp>
      <p:pic>
        <p:nvPicPr>
          <p:cNvPr id="208" name="Google Shape;208;g3729fdd57bb_1_36"/>
          <p:cNvPicPr preferRelativeResize="0"/>
          <p:nvPr/>
        </p:nvPicPr>
        <p:blipFill>
          <a:blip r:embed="rId3">
            <a:alphaModFix/>
          </a:blip>
          <a:stretch>
            <a:fillRect/>
          </a:stretch>
        </p:blipFill>
        <p:spPr>
          <a:xfrm>
            <a:off x="152400" y="1147625"/>
            <a:ext cx="5555624" cy="3965625"/>
          </a:xfrm>
          <a:prstGeom prst="rect">
            <a:avLst/>
          </a:prstGeom>
          <a:noFill/>
          <a:ln>
            <a:noFill/>
          </a:ln>
        </p:spPr>
      </p:pic>
      <p:pic>
        <p:nvPicPr>
          <p:cNvPr id="209" name="Google Shape;209;g3729fdd57bb_1_36"/>
          <p:cNvPicPr preferRelativeResize="0"/>
          <p:nvPr/>
        </p:nvPicPr>
        <p:blipFill>
          <a:blip r:embed="rId4">
            <a:alphaModFix/>
          </a:blip>
          <a:stretch>
            <a:fillRect/>
          </a:stretch>
        </p:blipFill>
        <p:spPr>
          <a:xfrm>
            <a:off x="5804750" y="1147625"/>
            <a:ext cx="6234851" cy="3965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729fdd57bb_1_49"/>
          <p:cNvSpPr txBox="1"/>
          <p:nvPr>
            <p:ph type="title"/>
          </p:nvPr>
        </p:nvSpPr>
        <p:spPr>
          <a:xfrm>
            <a:off x="838200" y="-42025"/>
            <a:ext cx="10515600" cy="827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800"/>
              <a:buNone/>
            </a:pPr>
            <a:r>
              <a:rPr lang="en-US"/>
              <a:t>Total Gross Over Time</a:t>
            </a:r>
            <a:endParaRPr/>
          </a:p>
        </p:txBody>
      </p:sp>
      <p:sp>
        <p:nvSpPr>
          <p:cNvPr id="215" name="Google Shape;215;g3729fdd57bb_1_49"/>
          <p:cNvSpPr txBox="1"/>
          <p:nvPr>
            <p:ph idx="1" type="body"/>
          </p:nvPr>
        </p:nvSpPr>
        <p:spPr>
          <a:xfrm>
            <a:off x="280475" y="5283725"/>
            <a:ext cx="11625900" cy="15111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From the line graph above, we see that there was significant decline in total gross from 2010-2011, this could be an anomaly based on the specific movies included in the dataset, or it could mean that there was a great market shift for movies between 2010-2011.</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However, after 2011, the median total gross appears to fluctuate but generally remains in a similar range, with a slight upward trend from 2016 to 2018.</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There isn't a clear, consistent upward trend in median total gross across the entire period (2010-2018). This suggests that while some years might have performed better than others in terms of typical movie revenue, the market's overall median financial performance hasn't drastically increased within this timeframe based on this dataset.</a:t>
            </a:r>
            <a:endParaRPr sz="1250">
              <a:solidFill>
                <a:srgbClr val="D4D4D4"/>
              </a:solidFill>
              <a:highlight>
                <a:srgbClr val="1E1E1E"/>
              </a:highlight>
              <a:latin typeface="Times New Roman"/>
              <a:ea typeface="Times New Roman"/>
              <a:cs typeface="Times New Roman"/>
              <a:sym typeface="Times New Roman"/>
            </a:endParaRPr>
          </a:p>
        </p:txBody>
      </p:sp>
      <p:pic>
        <p:nvPicPr>
          <p:cNvPr id="216" name="Google Shape;216;g3729fdd57bb_1_49"/>
          <p:cNvPicPr preferRelativeResize="0"/>
          <p:nvPr/>
        </p:nvPicPr>
        <p:blipFill>
          <a:blip r:embed="rId3">
            <a:alphaModFix/>
          </a:blip>
          <a:stretch>
            <a:fillRect/>
          </a:stretch>
        </p:blipFill>
        <p:spPr>
          <a:xfrm>
            <a:off x="1055400" y="1020150"/>
            <a:ext cx="9614900" cy="3962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c64058ab61_0_23"/>
          <p:cNvSpPr txBox="1"/>
          <p:nvPr>
            <p:ph type="title"/>
          </p:nvPr>
        </p:nvSpPr>
        <p:spPr>
          <a:xfrm>
            <a:off x="838200" y="-420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800"/>
              <a:buNone/>
            </a:pPr>
            <a:r>
              <a:rPr lang="en-US"/>
              <a:t>Average Rating</a:t>
            </a:r>
            <a:r>
              <a:rPr lang="en-US"/>
              <a:t> Over Time</a:t>
            </a:r>
            <a:endParaRPr/>
          </a:p>
        </p:txBody>
      </p:sp>
      <p:sp>
        <p:nvSpPr>
          <p:cNvPr id="222" name="Google Shape;222;gc64058ab61_0_23"/>
          <p:cNvSpPr txBox="1"/>
          <p:nvPr/>
        </p:nvSpPr>
        <p:spPr>
          <a:xfrm>
            <a:off x="283950" y="5322825"/>
            <a:ext cx="11624100" cy="1223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The median average rating starts at 6.4 in 2010 and quickly rises to 6.6 in 2011.</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From 2011 onwards, the median average rating remains relatively stable, hovering around 6.5 and 6.6.</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There is no strong upward or downward trend in median average rating over the years covered. This indicates that, on average, the critical or audience reception (as reflected in ratings) of movies hasn't changed significantly from 2011 to 2018 within this dataset.</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D4D4D4"/>
              </a:solidFill>
              <a:highlight>
                <a:srgbClr val="1E1E1E"/>
              </a:highlight>
              <a:latin typeface="Times New Roman"/>
              <a:ea typeface="Times New Roman"/>
              <a:cs typeface="Times New Roman"/>
              <a:sym typeface="Times New Roman"/>
            </a:endParaRPr>
          </a:p>
        </p:txBody>
      </p:sp>
      <p:pic>
        <p:nvPicPr>
          <p:cNvPr id="223" name="Google Shape;223;gc64058ab61_0_23"/>
          <p:cNvPicPr preferRelativeResize="0"/>
          <p:nvPr/>
        </p:nvPicPr>
        <p:blipFill>
          <a:blip r:embed="rId3">
            <a:alphaModFix/>
          </a:blip>
          <a:stretch>
            <a:fillRect/>
          </a:stretch>
        </p:blipFill>
        <p:spPr>
          <a:xfrm>
            <a:off x="916550" y="1126550"/>
            <a:ext cx="9279625" cy="3731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74c74cb0d0_0_35"/>
          <p:cNvSpPr txBox="1"/>
          <p:nvPr>
            <p:ph type="title"/>
          </p:nvPr>
        </p:nvSpPr>
        <p:spPr>
          <a:xfrm>
            <a:off x="838200" y="-42025"/>
            <a:ext cx="10515600" cy="866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800"/>
              <a:buNone/>
            </a:pPr>
            <a:r>
              <a:rPr lang="en-US"/>
              <a:t>Number of Votes Over Time</a:t>
            </a:r>
            <a:endParaRPr/>
          </a:p>
        </p:txBody>
      </p:sp>
      <p:sp>
        <p:nvSpPr>
          <p:cNvPr id="229" name="Google Shape;229;g374c74cb0d0_0_35"/>
          <p:cNvSpPr txBox="1"/>
          <p:nvPr/>
        </p:nvSpPr>
        <p:spPr>
          <a:xfrm>
            <a:off x="283950" y="5322825"/>
            <a:ext cx="11624100" cy="1004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The median number of votes shows a clear downward trend from 2010 to 2018. There's a sharp drop from 2010 to 2011, and then a more gradual but consistent decline in the following years.</a:t>
            </a:r>
            <a:endParaRPr sz="1050">
              <a:solidFill>
                <a:srgbClr val="D4D4D4"/>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050">
                <a:solidFill>
                  <a:srgbClr val="D4D4D4"/>
                </a:solidFill>
                <a:highlight>
                  <a:srgbClr val="1E1E1E"/>
                </a:highlight>
                <a:latin typeface="Courier New"/>
                <a:ea typeface="Courier New"/>
                <a:cs typeface="Courier New"/>
                <a:sym typeface="Courier New"/>
              </a:rPr>
              <a:t>This trend suggests that the typical movie in this dataset is receiving fewer audience votes over time. This could indicate a decrease in audience engagement.</a:t>
            </a:r>
            <a:endParaRPr sz="1050">
              <a:solidFill>
                <a:srgbClr val="D4D4D4"/>
              </a:solidFill>
              <a:highlight>
                <a:srgbClr val="1E1E1E"/>
              </a:highlight>
              <a:latin typeface="Times New Roman"/>
              <a:ea typeface="Times New Roman"/>
              <a:cs typeface="Times New Roman"/>
              <a:sym typeface="Times New Roman"/>
            </a:endParaRPr>
          </a:p>
        </p:txBody>
      </p:sp>
      <p:pic>
        <p:nvPicPr>
          <p:cNvPr id="230" name="Google Shape;230;g374c74cb0d0_0_35"/>
          <p:cNvPicPr preferRelativeResize="0"/>
          <p:nvPr/>
        </p:nvPicPr>
        <p:blipFill>
          <a:blip r:embed="rId3">
            <a:alphaModFix/>
          </a:blip>
          <a:stretch>
            <a:fillRect/>
          </a:stretch>
        </p:blipFill>
        <p:spPr>
          <a:xfrm>
            <a:off x="2051208" y="823925"/>
            <a:ext cx="7139016" cy="4498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5"/>
          <p:cNvSpPr txBox="1"/>
          <p:nvPr>
            <p:ph type="title"/>
          </p:nvPr>
        </p:nvSpPr>
        <p:spPr>
          <a:xfrm>
            <a:off x="838200" y="365125"/>
            <a:ext cx="10515600" cy="901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Summary and Conclusion</a:t>
            </a:r>
            <a:endParaRPr/>
          </a:p>
        </p:txBody>
      </p:sp>
      <p:sp>
        <p:nvSpPr>
          <p:cNvPr id="236" name="Google Shape;236;p5"/>
          <p:cNvSpPr txBox="1"/>
          <p:nvPr>
            <p:ph idx="1" type="body"/>
          </p:nvPr>
        </p:nvSpPr>
        <p:spPr>
          <a:xfrm>
            <a:off x="838200" y="1320926"/>
            <a:ext cx="10515600" cy="4856100"/>
          </a:xfrm>
          <a:prstGeom prst="rect">
            <a:avLst/>
          </a:prstGeom>
          <a:noFill/>
          <a:ln>
            <a:noFill/>
          </a:ln>
        </p:spPr>
        <p:txBody>
          <a:bodyPr anchorCtr="0" anchor="t" bIns="45700" lIns="91425" spcFirstLastPara="1" rIns="91425" wrap="square" tIns="45700">
            <a:noAutofit/>
          </a:bodyPr>
          <a:lstStyle/>
          <a:p>
            <a:pPr indent="0" lvl="0" marL="0" rtl="0" algn="l">
              <a:lnSpc>
                <a:spcPct val="115714"/>
              </a:lnSpc>
              <a:spcBef>
                <a:spcPts val="0"/>
              </a:spcBef>
              <a:spcAft>
                <a:spcPts val="0"/>
              </a:spcAft>
              <a:buSzPts val="688"/>
              <a:buNone/>
            </a:pPr>
            <a:r>
              <a:rPr lang="en-US" sz="1067">
                <a:solidFill>
                  <a:srgbClr val="D4D4D4"/>
                </a:solidFill>
                <a:highlight>
                  <a:schemeClr val="dk1"/>
                </a:highlight>
                <a:latin typeface="Times New Roman"/>
                <a:ea typeface="Times New Roman"/>
                <a:cs typeface="Times New Roman"/>
                <a:sym typeface="Times New Roman"/>
              </a:rPr>
              <a:t>Based on the analysis we have performed above, we can make the below conclusions:</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b="1" lang="en-US" sz="1067">
                <a:solidFill>
                  <a:srgbClr val="D4D4D4"/>
                </a:solidFill>
                <a:highlight>
                  <a:schemeClr val="dk1"/>
                </a:highlight>
                <a:latin typeface="Times New Roman"/>
                <a:ea typeface="Times New Roman"/>
                <a:cs typeface="Times New Roman"/>
                <a:sym typeface="Times New Roman"/>
              </a:rPr>
              <a:t>**1. Most Financially Successful Movie Genres:**</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lang="en-US" sz="1067">
                <a:solidFill>
                  <a:srgbClr val="82C6FF"/>
                </a:solidFill>
                <a:highlight>
                  <a:schemeClr val="dk1"/>
                </a:highlight>
                <a:latin typeface="Times New Roman"/>
                <a:ea typeface="Times New Roman"/>
                <a:cs typeface="Times New Roman"/>
                <a:sym typeface="Times New Roman"/>
              </a:rPr>
              <a:t>* </a:t>
            </a:r>
            <a:r>
              <a:rPr lang="en-US" sz="1067">
                <a:solidFill>
                  <a:srgbClr val="D4D4D4"/>
                </a:solidFill>
                <a:highlight>
                  <a:schemeClr val="dk1"/>
                </a:highlight>
                <a:latin typeface="Times New Roman"/>
                <a:ea typeface="Times New Roman"/>
                <a:cs typeface="Times New Roman"/>
                <a:sym typeface="Times New Roman"/>
              </a:rPr>
              <a:t>  Adventure, Sci-Fi, and Animation genres demonstrate the highest median total gross revenue among the genres analyzed. While Drama and Comedy are prevalent, their typical financial returns are significantly lower.</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lang="en-US" sz="1067">
                <a:solidFill>
                  <a:srgbClr val="82C6FF"/>
                </a:solidFill>
                <a:highlight>
                  <a:schemeClr val="dk1"/>
                </a:highlight>
                <a:latin typeface="Times New Roman"/>
                <a:ea typeface="Times New Roman"/>
                <a:cs typeface="Times New Roman"/>
                <a:sym typeface="Times New Roman"/>
              </a:rPr>
              <a:t>* </a:t>
            </a:r>
            <a:r>
              <a:rPr lang="en-US" sz="1067">
                <a:solidFill>
                  <a:srgbClr val="D4D4D4"/>
                </a:solidFill>
                <a:highlight>
                  <a:schemeClr val="dk1"/>
                </a:highlight>
                <a:latin typeface="Times New Roman"/>
                <a:ea typeface="Times New Roman"/>
                <a:cs typeface="Times New Roman"/>
                <a:sym typeface="Times New Roman"/>
              </a:rPr>
              <a:t>  Based on this, we advise Microsoft to prioritize producing movies in </a:t>
            </a:r>
            <a:r>
              <a:rPr b="1" lang="en-US" sz="1067">
                <a:solidFill>
                  <a:srgbClr val="D4D4D4"/>
                </a:solidFill>
                <a:highlight>
                  <a:schemeClr val="dk1"/>
                </a:highlight>
                <a:latin typeface="Times New Roman"/>
                <a:ea typeface="Times New Roman"/>
                <a:cs typeface="Times New Roman"/>
                <a:sym typeface="Times New Roman"/>
              </a:rPr>
              <a:t>**Adventure, Sci-Fi, and Animation**</a:t>
            </a:r>
            <a:r>
              <a:rPr lang="en-US" sz="1067">
                <a:solidFill>
                  <a:srgbClr val="D4D4D4"/>
                </a:solidFill>
                <a:highlight>
                  <a:schemeClr val="dk1"/>
                </a:highlight>
                <a:latin typeface="Times New Roman"/>
                <a:ea typeface="Times New Roman"/>
                <a:cs typeface="Times New Roman"/>
                <a:sym typeface="Times New Roman"/>
              </a:rPr>
              <a:t> genres to maximize their potential for high box office returns.</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b="1" lang="en-US" sz="1067">
                <a:solidFill>
                  <a:srgbClr val="D4D4D4"/>
                </a:solidFill>
                <a:highlight>
                  <a:schemeClr val="dk1"/>
                </a:highlight>
                <a:latin typeface="Times New Roman"/>
                <a:ea typeface="Times New Roman"/>
                <a:cs typeface="Times New Roman"/>
                <a:sym typeface="Times New Roman"/>
              </a:rPr>
              <a:t>**2. Impact of Ratings and Audience Engagement on Financial Success:**</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lang="en-US" sz="1067">
                <a:solidFill>
                  <a:srgbClr val="82C6FF"/>
                </a:solidFill>
                <a:highlight>
                  <a:schemeClr val="dk1"/>
                </a:highlight>
                <a:latin typeface="Times New Roman"/>
                <a:ea typeface="Times New Roman"/>
                <a:cs typeface="Times New Roman"/>
                <a:sym typeface="Times New Roman"/>
              </a:rPr>
              <a:t>* </a:t>
            </a:r>
            <a:r>
              <a:rPr lang="en-US" sz="1067">
                <a:solidFill>
                  <a:srgbClr val="D4D4D4"/>
                </a:solidFill>
                <a:highlight>
                  <a:schemeClr val="dk1"/>
                </a:highlight>
                <a:latin typeface="Times New Roman"/>
                <a:ea typeface="Times New Roman"/>
                <a:cs typeface="Times New Roman"/>
                <a:sym typeface="Times New Roman"/>
              </a:rPr>
              <a:t>  The number of audience votes is a better indicator of potential total gross revenue than the average rating. High ratings alone do not guarantee high box office success, but movies with higher audience engagement (more votes) tend to perform better financially.</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lang="en-US" sz="1067">
                <a:solidFill>
                  <a:srgbClr val="82C6FF"/>
                </a:solidFill>
                <a:highlight>
                  <a:schemeClr val="dk1"/>
                </a:highlight>
                <a:latin typeface="Times New Roman"/>
                <a:ea typeface="Times New Roman"/>
                <a:cs typeface="Times New Roman"/>
                <a:sym typeface="Times New Roman"/>
              </a:rPr>
              <a:t>* </a:t>
            </a:r>
            <a:r>
              <a:rPr lang="en-US" sz="1067">
                <a:solidFill>
                  <a:srgbClr val="D4D4D4"/>
                </a:solidFill>
                <a:highlight>
                  <a:schemeClr val="dk1"/>
                </a:highlight>
                <a:latin typeface="Times New Roman"/>
                <a:ea typeface="Times New Roman"/>
                <a:cs typeface="Times New Roman"/>
                <a:sym typeface="Times New Roman"/>
              </a:rPr>
              <a:t> Based on this, we advise Microsoft to focus on creating movies that generate significant </a:t>
            </a:r>
            <a:r>
              <a:rPr b="1" lang="en-US" sz="1067">
                <a:solidFill>
                  <a:srgbClr val="D4D4D4"/>
                </a:solidFill>
                <a:highlight>
                  <a:schemeClr val="dk1"/>
                </a:highlight>
                <a:latin typeface="Times New Roman"/>
                <a:ea typeface="Times New Roman"/>
                <a:cs typeface="Times New Roman"/>
                <a:sym typeface="Times New Roman"/>
              </a:rPr>
              <a:t>**audience engagement and buzz**</a:t>
            </a:r>
            <a:r>
              <a:rPr lang="en-US" sz="1067">
                <a:solidFill>
                  <a:srgbClr val="D4D4D4"/>
                </a:solidFill>
                <a:highlight>
                  <a:schemeClr val="dk1"/>
                </a:highlight>
                <a:latin typeface="Times New Roman"/>
                <a:ea typeface="Times New Roman"/>
                <a:cs typeface="Times New Roman"/>
                <a:sym typeface="Times New Roman"/>
              </a:rPr>
              <a:t>. Marketing and distribution strategies should prioritize reaching a wide audience and encouraging interaction.</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b="1" lang="en-US" sz="1067">
                <a:solidFill>
                  <a:srgbClr val="D4D4D4"/>
                </a:solidFill>
                <a:highlight>
                  <a:schemeClr val="dk1"/>
                </a:highlight>
                <a:latin typeface="Times New Roman"/>
                <a:ea typeface="Times New Roman"/>
                <a:cs typeface="Times New Roman"/>
                <a:sym typeface="Times New Roman"/>
              </a:rPr>
              <a:t>**3. Performance of Existing Studios:**</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lang="en-US" sz="1067">
                <a:solidFill>
                  <a:srgbClr val="82C6FF"/>
                </a:solidFill>
                <a:highlight>
                  <a:schemeClr val="dk1"/>
                </a:highlight>
                <a:latin typeface="Times New Roman"/>
                <a:ea typeface="Times New Roman"/>
                <a:cs typeface="Times New Roman"/>
                <a:sym typeface="Times New Roman"/>
              </a:rPr>
              <a:t>* </a:t>
            </a:r>
            <a:r>
              <a:rPr lang="en-US" sz="1067">
                <a:solidFill>
                  <a:srgbClr val="D4D4D4"/>
                </a:solidFill>
                <a:highlight>
                  <a:schemeClr val="dk1"/>
                </a:highlight>
                <a:latin typeface="Times New Roman"/>
                <a:ea typeface="Times New Roman"/>
                <a:cs typeface="Times New Roman"/>
                <a:sym typeface="Times New Roman"/>
              </a:rPr>
              <a:t> Studios like HC, P/DW, and BV show high median total gross, indicating strong typical performance. The analysis of domestic and foreign gross distributions reveals that some studios excel in specific markets and have varying levels of consistency and potential for blockbusters.</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lang="en-US" sz="1067">
                <a:solidFill>
                  <a:srgbClr val="82C6FF"/>
                </a:solidFill>
                <a:highlight>
                  <a:schemeClr val="dk1"/>
                </a:highlight>
                <a:latin typeface="Times New Roman"/>
                <a:ea typeface="Times New Roman"/>
                <a:cs typeface="Times New Roman"/>
                <a:sym typeface="Times New Roman"/>
              </a:rPr>
              <a:t>* </a:t>
            </a:r>
            <a:r>
              <a:rPr lang="en-US" sz="1067">
                <a:solidFill>
                  <a:srgbClr val="D4D4D4"/>
                </a:solidFill>
                <a:highlight>
                  <a:schemeClr val="dk1"/>
                </a:highlight>
                <a:latin typeface="Times New Roman"/>
                <a:ea typeface="Times New Roman"/>
                <a:cs typeface="Times New Roman"/>
                <a:sym typeface="Times New Roman"/>
              </a:rPr>
              <a:t>  Based on this, Microsoft can study and learn from the strategies of successful studios, particularly those with high median gross and consistent performance in target markets. This could inform decisions about genre focus, production scale, and potential talent acquisition or partnerships. Understanding the variability in earnings can also help Microsoft define its own risk tolerance and production goals (consistent earners vs. high-risk blockbusters).</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b="1" lang="en-US" sz="1067">
                <a:solidFill>
                  <a:srgbClr val="D4D4D4"/>
                </a:solidFill>
                <a:highlight>
                  <a:schemeClr val="dk1"/>
                </a:highlight>
                <a:latin typeface="Times New Roman"/>
                <a:ea typeface="Times New Roman"/>
                <a:cs typeface="Times New Roman"/>
                <a:sym typeface="Times New Roman"/>
              </a:rPr>
              <a:t>**4. Trends in Movie Performance:**</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lang="en-US" sz="1067">
                <a:solidFill>
                  <a:srgbClr val="82C6FF"/>
                </a:solidFill>
                <a:highlight>
                  <a:schemeClr val="dk1"/>
                </a:highlight>
                <a:latin typeface="Times New Roman"/>
                <a:ea typeface="Times New Roman"/>
                <a:cs typeface="Times New Roman"/>
                <a:sym typeface="Times New Roman"/>
              </a:rPr>
              <a:t>* </a:t>
            </a:r>
            <a:r>
              <a:rPr lang="en-US" sz="1067">
                <a:solidFill>
                  <a:srgbClr val="D4D4D4"/>
                </a:solidFill>
                <a:highlight>
                  <a:schemeClr val="dk1"/>
                </a:highlight>
                <a:latin typeface="Times New Roman"/>
                <a:ea typeface="Times New Roman"/>
                <a:cs typeface="Times New Roman"/>
                <a:sym typeface="Times New Roman"/>
              </a:rPr>
              <a:t>  Median total gross has been relatively stable after an initial dip in 2011. Median average ratings have also remained consistent. However, the median number of audience votes has shown a clear downward trend from 2010 to 2018.</a:t>
            </a:r>
            <a:endParaRPr sz="1067">
              <a:solidFill>
                <a:srgbClr val="D4D4D4"/>
              </a:solidFill>
              <a:highlight>
                <a:schemeClr val="dk1"/>
              </a:highlight>
              <a:latin typeface="Times New Roman"/>
              <a:ea typeface="Times New Roman"/>
              <a:cs typeface="Times New Roman"/>
              <a:sym typeface="Times New Roman"/>
            </a:endParaRPr>
          </a:p>
          <a:p>
            <a:pPr indent="0" lvl="0" marL="0" rtl="0" algn="l">
              <a:lnSpc>
                <a:spcPct val="115714"/>
              </a:lnSpc>
              <a:spcBef>
                <a:spcPts val="0"/>
              </a:spcBef>
              <a:spcAft>
                <a:spcPts val="0"/>
              </a:spcAft>
              <a:buSzPts val="688"/>
              <a:buNone/>
            </a:pPr>
            <a:r>
              <a:rPr lang="en-US" sz="1067">
                <a:solidFill>
                  <a:srgbClr val="82C6FF"/>
                </a:solidFill>
                <a:highlight>
                  <a:schemeClr val="dk1"/>
                </a:highlight>
                <a:latin typeface="Times New Roman"/>
                <a:ea typeface="Times New Roman"/>
                <a:cs typeface="Times New Roman"/>
                <a:sym typeface="Times New Roman"/>
              </a:rPr>
              <a:t>* </a:t>
            </a:r>
            <a:r>
              <a:rPr lang="en-US" sz="1067">
                <a:solidFill>
                  <a:srgbClr val="D4D4D4"/>
                </a:solidFill>
                <a:highlight>
                  <a:schemeClr val="dk1"/>
                </a:highlight>
                <a:latin typeface="Times New Roman"/>
                <a:ea typeface="Times New Roman"/>
                <a:cs typeface="Times New Roman"/>
                <a:sym typeface="Times New Roman"/>
              </a:rPr>
              <a:t>  The declining trend in audience engagement (votes) is a significant factor. Microsoft needs to develop strategies to counteract this trend and ensure their movies capture audience attention and generate interaction in a competitive market. Simply producing movies may not be enough; focusing on unique concepts, effective marketing, and engaging content will be crucial.</a:t>
            </a:r>
            <a:endParaRPr sz="1000">
              <a:solidFill>
                <a:srgbClr val="E3E3E3"/>
              </a:solidFill>
              <a:highlight>
                <a:schemeClr val="dk1"/>
              </a:highlight>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c64058ab61_0_4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Recommendations</a:t>
            </a:r>
            <a:endParaRPr/>
          </a:p>
        </p:txBody>
      </p:sp>
      <p:sp>
        <p:nvSpPr>
          <p:cNvPr id="242" name="Google Shape;242;gc64058ab61_0_4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412750" lvl="0" marL="457200" rtl="0" algn="l">
              <a:lnSpc>
                <a:spcPct val="135714"/>
              </a:lnSpc>
              <a:spcBef>
                <a:spcPts val="0"/>
              </a:spcBef>
              <a:spcAft>
                <a:spcPts val="0"/>
              </a:spcAft>
              <a:buClr>
                <a:srgbClr val="E3E3E3"/>
              </a:buClr>
              <a:buSzPts val="2900"/>
              <a:buFont typeface="Times New Roman"/>
              <a:buChar char="●"/>
            </a:pPr>
            <a:r>
              <a:rPr lang="en-US" sz="2150">
                <a:solidFill>
                  <a:srgbClr val="D4D4D4"/>
                </a:solidFill>
                <a:highlight>
                  <a:schemeClr val="dk1"/>
                </a:highlight>
                <a:latin typeface="Times New Roman"/>
                <a:ea typeface="Times New Roman"/>
                <a:cs typeface="Times New Roman"/>
                <a:sym typeface="Times New Roman"/>
              </a:rPr>
              <a:t>To enter the movie industry successfully, Microsoft should strategically focus on </a:t>
            </a:r>
            <a:r>
              <a:rPr b="1" lang="en-US" sz="2150">
                <a:solidFill>
                  <a:srgbClr val="D4D4D4"/>
                </a:solidFill>
                <a:highlight>
                  <a:schemeClr val="dk1"/>
                </a:highlight>
                <a:latin typeface="Times New Roman"/>
                <a:ea typeface="Times New Roman"/>
                <a:cs typeface="Times New Roman"/>
                <a:sym typeface="Times New Roman"/>
              </a:rPr>
              <a:t>**high-grossing genres like Adventure, Sci-Fi, and Animation**</a:t>
            </a:r>
            <a:r>
              <a:rPr lang="en-US" sz="2150">
                <a:solidFill>
                  <a:srgbClr val="D4D4D4"/>
                </a:solidFill>
                <a:highlight>
                  <a:schemeClr val="dk1"/>
                </a:highlight>
                <a:latin typeface="Times New Roman"/>
                <a:ea typeface="Times New Roman"/>
                <a:cs typeface="Times New Roman"/>
                <a:sym typeface="Times New Roman"/>
              </a:rPr>
              <a:t>. While striving for quality (good ratings), they must prioritize </a:t>
            </a:r>
            <a:r>
              <a:rPr b="1" lang="en-US" sz="2150">
                <a:solidFill>
                  <a:srgbClr val="D4D4D4"/>
                </a:solidFill>
                <a:highlight>
                  <a:schemeClr val="dk1"/>
                </a:highlight>
                <a:latin typeface="Times New Roman"/>
                <a:ea typeface="Times New Roman"/>
                <a:cs typeface="Times New Roman"/>
                <a:sym typeface="Times New Roman"/>
              </a:rPr>
              <a:t>**generating strong audience engagement**</a:t>
            </a:r>
            <a:r>
              <a:rPr lang="en-US" sz="2150">
                <a:solidFill>
                  <a:srgbClr val="D4D4D4"/>
                </a:solidFill>
                <a:highlight>
                  <a:schemeClr val="dk1"/>
                </a:highlight>
                <a:latin typeface="Times New Roman"/>
                <a:ea typeface="Times New Roman"/>
                <a:cs typeface="Times New Roman"/>
                <a:sym typeface="Times New Roman"/>
              </a:rPr>
              <a:t> as this correlates more closely with financial success.</a:t>
            </a:r>
            <a:endParaRPr sz="2150">
              <a:solidFill>
                <a:srgbClr val="D4D4D4"/>
              </a:solidFill>
              <a:highlight>
                <a:schemeClr val="dk1"/>
              </a:highlight>
              <a:latin typeface="Times New Roman"/>
              <a:ea typeface="Times New Roman"/>
              <a:cs typeface="Times New Roman"/>
              <a:sym typeface="Times New Roman"/>
            </a:endParaRPr>
          </a:p>
          <a:p>
            <a:pPr indent="-412750" lvl="0" marL="457200" rtl="0" algn="l">
              <a:lnSpc>
                <a:spcPct val="135714"/>
              </a:lnSpc>
              <a:spcBef>
                <a:spcPts val="0"/>
              </a:spcBef>
              <a:spcAft>
                <a:spcPts val="0"/>
              </a:spcAft>
              <a:buClr>
                <a:srgbClr val="E3E3E3"/>
              </a:buClr>
              <a:buSzPts val="2900"/>
              <a:buFont typeface="Times New Roman"/>
              <a:buChar char="●"/>
            </a:pPr>
            <a:r>
              <a:rPr lang="en-US" sz="2150">
                <a:solidFill>
                  <a:srgbClr val="D4D4D4"/>
                </a:solidFill>
                <a:highlight>
                  <a:schemeClr val="dk1"/>
                </a:highlight>
                <a:latin typeface="Times New Roman"/>
                <a:ea typeface="Times New Roman"/>
                <a:cs typeface="Times New Roman"/>
                <a:sym typeface="Times New Roman"/>
              </a:rPr>
              <a:t>Understanding the landscape of existing successful studios and the </a:t>
            </a:r>
            <a:r>
              <a:rPr b="1" lang="en-US" sz="2150">
                <a:solidFill>
                  <a:srgbClr val="D4D4D4"/>
                </a:solidFill>
                <a:highlight>
                  <a:schemeClr val="dk1"/>
                </a:highlight>
                <a:latin typeface="Times New Roman"/>
                <a:ea typeface="Times New Roman"/>
                <a:cs typeface="Times New Roman"/>
                <a:sym typeface="Times New Roman"/>
              </a:rPr>
              <a:t>**trend of declining typical audience engagement**</a:t>
            </a:r>
            <a:r>
              <a:rPr lang="en-US" sz="2150">
                <a:solidFill>
                  <a:srgbClr val="D4D4D4"/>
                </a:solidFill>
                <a:highlight>
                  <a:schemeClr val="dk1"/>
                </a:highlight>
                <a:latin typeface="Times New Roman"/>
                <a:ea typeface="Times New Roman"/>
                <a:cs typeface="Times New Roman"/>
                <a:sym typeface="Times New Roman"/>
              </a:rPr>
              <a:t> is vital for developing a competitive strategy that aims to stand out and capture market attention.</a:t>
            </a:r>
            <a:endParaRPr sz="2150">
              <a:solidFill>
                <a:srgbClr val="D4D4D4"/>
              </a:solidFill>
              <a:highlight>
                <a:schemeClr val="dk1"/>
              </a:highlight>
              <a:latin typeface="Times New Roman"/>
              <a:ea typeface="Times New Roman"/>
              <a:cs typeface="Times New Roman"/>
              <a:sym typeface="Times New Roman"/>
            </a:endParaRPr>
          </a:p>
          <a:p>
            <a:pPr indent="0" lvl="0" marL="0" rtl="0" algn="l">
              <a:lnSpc>
                <a:spcPct val="115000"/>
              </a:lnSpc>
              <a:spcBef>
                <a:spcPts val="600"/>
              </a:spcBef>
              <a:spcAft>
                <a:spcPts val="600"/>
              </a:spcAft>
              <a:buNone/>
            </a:pPr>
            <a:r>
              <a:t/>
            </a:r>
            <a:endParaRPr>
              <a:solidFill>
                <a:srgbClr val="E3E3E3"/>
              </a:solidFill>
              <a:highlight>
                <a:schemeClr val="dk1"/>
              </a:highlight>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2021-03-14T16:46:12Z</dcterms:created>
  <dc:creator>JOHN</dc:creator>
</cp:coreProperties>
</file>